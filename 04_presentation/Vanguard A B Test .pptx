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12192000"/>
  <p:embeddedFontLst>
    <p:embeddedFont>
      <p:font typeface="IBM Plex Sans"/>
      <p:regular r:id="rId17"/>
      <p:bold r:id="rId18"/>
      <p:italic r:id="rId19"/>
      <p:boldItalic r:id="rId20"/>
    </p:embeddedFont>
    <p:embeddedFont>
      <p:font typeface="Source Serif 4"/>
      <p:regular r:id="rId21"/>
      <p:bold r:id="rId22"/>
      <p:italic r:id="rId23"/>
      <p:boldItalic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5" roundtripDataSignature="AMtx7mgNHnTu6+LV4kSzLU/cZiAVz34oC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9DEBDC5-9959-478B-8C66-EB90CEECB7AA}">
  <a:tblStyle styleId="{79DEBDC5-9959-478B-8C66-EB90CEECB7A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IBMPlexSans-boldItalic.fntdata"/><Relationship Id="rId22" Type="http://schemas.openxmlformats.org/officeDocument/2006/relationships/font" Target="fonts/SourceSerif4-bold.fntdata"/><Relationship Id="rId21" Type="http://schemas.openxmlformats.org/officeDocument/2006/relationships/font" Target="fonts/SourceSerif4-regular.fntdata"/><Relationship Id="rId24" Type="http://schemas.openxmlformats.org/officeDocument/2006/relationships/font" Target="fonts/SourceSerif4-boldItalic.fntdata"/><Relationship Id="rId23" Type="http://schemas.openxmlformats.org/officeDocument/2006/relationships/font" Target="fonts/SourceSerif4-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IBMPlexSans-regular.fntdata"/><Relationship Id="rId16" Type="http://schemas.openxmlformats.org/officeDocument/2006/relationships/slide" Target="slides/slide11.xml"/><Relationship Id="rId19" Type="http://schemas.openxmlformats.org/officeDocument/2006/relationships/font" Target="fonts/IBMPlexSans-italic.fntdata"/><Relationship Id="rId18" Type="http://schemas.openxmlformats.org/officeDocument/2006/relationships/font" Target="fonts/IBMPlex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indent="-228600" lvl="1" marL="914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2pPr>
            <a:lvl3pPr indent="-228600" lvl="2" marL="1371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3pPr>
            <a:lvl4pPr indent="-228600" lvl="3" marL="1828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4pPr>
            <a:lvl5pPr indent="-228600" lvl="4" marL="22860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5pPr>
            <a:lvl6pPr indent="-228600" lvl="5" marL="27432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6pPr>
            <a:lvl7pPr indent="-228600" lvl="6" marL="32004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7pPr>
            <a:lvl8pPr indent="-228600" lvl="7" marL="36576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8pPr>
            <a:lvl9pPr indent="-228600" lvl="8" marL="411480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IBM Plex Sans"/>
                <a:ea typeface="IBM Plex Sans"/>
                <a:cs typeface="IBM Plex Sans"/>
                <a:sym typeface="IBM Plex Sans"/>
              </a:defRPr>
            </a:lvl1pPr>
            <a:lvl2pPr lvl="1"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2pPr>
            <a:lvl3pPr lvl="2"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3pPr>
            <a:lvl4pPr lvl="3"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4pPr>
            <a:lvl5pPr lvl="4"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5pPr>
            <a:lvl6pPr lvl="5"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6pPr>
            <a:lvl7pPr lvl="6"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7pPr>
            <a:lvl8pPr lvl="7"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8pPr>
            <a:lvl9pPr lvl="8" marR="0" rtl="0" algn="l">
              <a:spcBef>
                <a:spcPts val="0"/>
              </a:spcBef>
              <a:spcAft>
                <a:spcPts val="0"/>
              </a:spcAft>
              <a:buSzPts val="1400"/>
              <a:buNone/>
              <a:defRPr b="0" i="0" sz="1800" u="none" cap="none" strike="noStrike">
                <a:solidFill>
                  <a:schemeClr val="dk1"/>
                </a:solidFill>
                <a:latin typeface="IBM Plex Sans"/>
                <a:ea typeface="IBM Plex Sans"/>
                <a:cs typeface="IBM Plex Sans"/>
                <a:sym typeface="IBM Plex Sans"/>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IBM Plex Sans"/>
                <a:ea typeface="IBM Plex Sans"/>
                <a:cs typeface="IBM Plex Sans"/>
                <a:sym typeface="IBM Plex Sans"/>
              </a:rPr>
              <a:t>‹#›</a:t>
            </a:fld>
            <a:endParaRPr b="0" i="0" sz="1200" u="none" cap="none" strike="noStrike">
              <a:solidFill>
                <a:schemeClr val="dk1"/>
              </a:solidFill>
              <a:latin typeface="IBM Plex Sans"/>
              <a:ea typeface="IBM Plex Sans"/>
              <a:cs typeface="IBM Plex Sans"/>
              <a:sym typeface="IBM Plex Sans"/>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Opening (Pariya): Good morning. We are team Hufflepuff: Pariya, Pietro and Yurii. Vanguard redesigned its online process and ran an A/B test to see whether the new design helps clients finish. Over the next minutes we will show who the clients are, how the two designs performed, and whether Vanguard should roll out the new design.</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 name="Google Shape;2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Pariya (about 1 minute): Clients go through five steps online, from start to confirm. The chart shows the web events at each step: many clients start, and fewer reach each next step. Vanguard showed the old design to a Control group and the new design to a Test group, for about three months in 2017. Our question: does the new design help more clients finish? The short answer: yes, but not enough yet to justify its cost. Here is how we got there. Vanguard also set a rule: the redesign is only worth it if completion goes up by at least 5%. We cleaned the data in one shared notebook, so all three of us analysed the same 50,488 clients.</a:t>
            </a:r>
            <a:endParaRPr/>
          </a:p>
        </p:txBody>
      </p:sp>
      <p:sp>
        <p:nvSpPr>
          <p:cNvPr id="29" name="Google Shape;2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 name="Google Shape;6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Pariya (about 1 minute): Our main KPI is the completion rate: the share of clients who reached the confirm step. With the old design, 65.6% finished; with the new design, 69.3%. That is 3.7 percentage points more, or about 1,000 more clients completing in the Test group than at the old rate (26,961 × 3.7%). Completion is a yes or no outcome, so we tested it with a chi-square test. The p-value is far below 0.05 (about 6.7 × 10⁻¹⁹), so we reject the null hypothesis: the new design really increases completion.</a:t>
            </a:r>
            <a:endParaRPr/>
          </a:p>
        </p:txBody>
      </p:sp>
      <p:sp>
        <p:nvSpPr>
          <p:cNvPr id="67" name="Google Shape;6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Yurii (about 1 minute): And who are the clients? Combining our three profile analyses: the average age of the client is 47, and the largest group of clients is 50 to 64 years old which is about a third of all clients. They are loyal: 11 - 12 years with Vanguard on average, and at least 75% of all clients are for 6 years or more with the company. Most of them hold two accounts, with a median balance of about 65.7K dollars. They use the website more than the phone-calls. So we have  experienced users, and many of them are over 50.</a:t>
            </a:r>
            <a:endParaRPr/>
          </a:p>
        </p:txBody>
      </p:sp>
      <p:sp>
        <p:nvSpPr>
          <p:cNvPr id="89" name="Google Shape;8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Yurii (about 45 seconds): Next KPI is time spent on each step. I measured the time between one step and the next within the same visit, and excluded gaps over 30 minutes. Test clients are faster on start, step 2 and step 3. But on step 1 they spend 23.2% more time which is about 58 seconds instead of 47. That points to a possible usability problem on step 1 of the new design.</a:t>
            </a:r>
            <a:endParaRPr/>
          </a:p>
        </p:txBody>
      </p:sp>
      <p:sp>
        <p:nvSpPr>
          <p:cNvPr id="120" name="Google Shape;12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3" name="Google Shape;13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Yurii (about 1 minute): Many clients are over 50, so I tested whether the redesign works equally well for both younger and older clients. Completion rate itself improved significantly in both groups, by about 3 percentage points each. Completion time dropped by almost 20 seconds for clients under 50, which is significant (p = 0.0005), BUT by only 8 seconds for clients 50 +, which is not significant (p = 0.34). My main hypothesis compared both of the  improvements (rate and time) and the total difference is not statistically significant, with p equal to 0.24. So we have no evidence that the redesign works differently by age, or in other words - redesign works more or less </a:t>
            </a:r>
            <a:r>
              <a:rPr lang="en-US"/>
              <a:t>equally</a:t>
            </a:r>
            <a:r>
              <a:rPr lang="en-US"/>
              <a:t> for both under 50 and over 50 clients. But anyway Vanguard should keep an eye on older clients.</a:t>
            </a:r>
            <a:endParaRPr/>
          </a:p>
        </p:txBody>
      </p:sp>
      <p:sp>
        <p:nvSpPr>
          <p:cNvPr id="134" name="Google Shape;13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6" name="Google Shape;14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Pietro (about 45 seconds): Our third KPI is the error rate. We count an error when a client goes back to an earlier step in the same visit. The Test group has more backward moves: 9.25% of events against 6.9%, about 2.35 percentage points more. The biggest gap is clients going back to the start: 19% for Test against 10.9% for Control. Together with Yurii’s step 1 result, this suggests the beginning of the new process confuses clients. If asked whether going back is always an error: not always, some clients may go back to check their details, so we treat it as a sign of confusion, not proof.</a:t>
            </a:r>
            <a:endParaRPr/>
          </a:p>
        </p:txBody>
      </p:sp>
      <p:sp>
        <p:nvSpPr>
          <p:cNvPr id="147" name="Google Shape;14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Pietro (about 1 minute): Vanguard said the redesign is only cost-effective if completion goes up by at least 5%. We read that as 5 percentage points, so the Test group would need 70.58%. It reached 69.29%, an increase of 3.71 points, which is 1.29 points short. So the improvement is real, but it doesn’t reach the threshold, and on its own it doesn’t justify the cost of the new design. If asked: if 5% were meant relative to Control, the target would be about 68.9%, and Test would only just pass.</a:t>
            </a:r>
            <a:endParaRPr/>
          </a:p>
        </p:txBody>
      </p:sp>
      <p:sp>
        <p:nvSpPr>
          <p:cNvPr id="166" name="Google Shape;16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Pariya, left side (about 30 seconds): Before trusting the result, we checked that the groups are comparable. Age, tenure, balance and gender are very similar, so the difference in completion comes from the design, not from the clients. One limitation: the split was 53 to 47 instead of 50/50. (For questions: chi-square for group size and gender, Welch t-tests for age and tenure, t-test for balance; split p &lt; 0.001, age p = 0.016, tenure 0.087, balance 0.66, gender 0.39.) The experiment ran for about 14 weeks and both groups were active every week, so the duration was adequate. But the Test advantage faded: from the week of 8 May, both groups were roughly equal. Vanguard should check whether the improvement lasts.</a:t>
            </a:r>
            <a:endParaRPr/>
          </a:p>
        </p:txBody>
      </p:sp>
      <p:sp>
        <p:nvSpPr>
          <p:cNvPr id="189" name="Google Shape;18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Pietro (about 1 minute): </a:t>
            </a:r>
            <a:r>
              <a:rPr lang="en-US" sz="1100">
                <a:solidFill>
                  <a:srgbClr val="000000"/>
                </a:solidFill>
                <a:latin typeface="Arial"/>
                <a:ea typeface="Arial"/>
                <a:cs typeface="Arial"/>
                <a:sym typeface="Arial"/>
              </a:rPr>
              <a:t>To sum up: the new design works. Completion went up by 3.7 percentage points—gaining roughly 1,000 more clients—and the effect is statistically significant across both younger and older clients alike.</a:t>
            </a:r>
            <a:endParaRPr sz="1100">
              <a:solidFill>
                <a:srgbClr val="000000"/>
              </a:solidFill>
              <a:latin typeface="Arial"/>
              <a:ea typeface="Arial"/>
              <a:cs typeface="Arial"/>
              <a:sym typeface="Arial"/>
            </a:endParaRPr>
          </a:p>
          <a:p>
            <a:pPr indent="0" lvl="0" marL="0" rtl="0" algn="l">
              <a:lnSpc>
                <a:spcPct val="115000"/>
              </a:lnSpc>
              <a:spcBef>
                <a:spcPts val="0"/>
              </a:spcBef>
              <a:spcAft>
                <a:spcPts val="0"/>
              </a:spcAft>
              <a:buNone/>
            </a:pPr>
            <a:r>
              <a:rPr lang="en-US" sz="1100">
                <a:solidFill>
                  <a:srgbClr val="000000"/>
                </a:solidFill>
                <a:latin typeface="Arial"/>
                <a:ea typeface="Arial"/>
                <a:cs typeface="Arial"/>
                <a:sym typeface="Arial"/>
              </a:rPr>
              <a:t>However, it falls short of Vanguard’s 5-point target, so it isn’t cost-effective yet. The clear weak spot is at the start of the process: Step 1 is 23% slower, and clients return to the start far more often—19% compared to 11% in the control group. On top of that, the advantage faded over time starting in May.</a:t>
            </a:r>
            <a:endParaRPr sz="1100">
              <a:solidFill>
                <a:srgbClr val="000000"/>
              </a:solidFill>
              <a:latin typeface="Arial"/>
              <a:ea typeface="Arial"/>
              <a:cs typeface="Arial"/>
              <a:sym typeface="Arial"/>
            </a:endParaRPr>
          </a:p>
          <a:p>
            <a:pPr indent="0" lvl="0" marL="0" rtl="0" algn="l">
              <a:lnSpc>
                <a:spcPct val="115000"/>
              </a:lnSpc>
              <a:spcBef>
                <a:spcPts val="1200"/>
              </a:spcBef>
              <a:spcAft>
                <a:spcPts val="0"/>
              </a:spcAft>
              <a:buNone/>
            </a:pPr>
            <a:r>
              <a:rPr lang="en-US" sz="1100">
                <a:solidFill>
                  <a:srgbClr val="000000"/>
                </a:solidFill>
                <a:latin typeface="Arial"/>
                <a:ea typeface="Arial"/>
                <a:cs typeface="Arial"/>
                <a:sym typeface="Arial"/>
              </a:rPr>
              <a:t>Our recommendation is </a:t>
            </a:r>
            <a:r>
              <a:rPr b="1" lang="en-US" sz="1100">
                <a:solidFill>
                  <a:srgbClr val="000000"/>
                </a:solidFill>
                <a:latin typeface="Arial"/>
                <a:ea typeface="Arial"/>
                <a:cs typeface="Arial"/>
                <a:sym typeface="Arial"/>
              </a:rPr>
              <a:t>not to roll out this current version yet</a:t>
            </a:r>
            <a:r>
              <a:rPr lang="en-US" sz="1100">
                <a:solidFill>
                  <a:srgbClr val="000000"/>
                </a:solidFill>
                <a:latin typeface="Arial"/>
                <a:ea typeface="Arial"/>
                <a:cs typeface="Arial"/>
                <a:sym typeface="Arial"/>
              </a:rPr>
              <a:t>, but to revise the start of the process and test it again. To achieve this, our immediate </a:t>
            </a:r>
            <a:r>
              <a:rPr b="1" lang="en-US" sz="1100">
                <a:solidFill>
                  <a:srgbClr val="000000"/>
                </a:solidFill>
                <a:latin typeface="Arial"/>
                <a:ea typeface="Arial"/>
                <a:cs typeface="Arial"/>
                <a:sym typeface="Arial"/>
              </a:rPr>
              <a:t>next steps</a:t>
            </a:r>
            <a:r>
              <a:rPr lang="en-US" sz="1100">
                <a:solidFill>
                  <a:srgbClr val="000000"/>
                </a:solidFill>
                <a:latin typeface="Arial"/>
                <a:ea typeface="Arial"/>
                <a:cs typeface="Arial"/>
                <a:sym typeface="Arial"/>
              </a:rPr>
              <a:t> will be:</a:t>
            </a:r>
            <a:endParaRPr sz="1100">
              <a:solidFill>
                <a:srgbClr val="000000"/>
              </a:solidFill>
              <a:latin typeface="Arial"/>
              <a:ea typeface="Arial"/>
              <a:cs typeface="Arial"/>
              <a:sym typeface="Arial"/>
            </a:endParaRPr>
          </a:p>
          <a:p>
            <a:pPr indent="-298450" lvl="0" marL="457200" rtl="0" algn="l">
              <a:lnSpc>
                <a:spcPct val="115000"/>
              </a:lnSpc>
              <a:spcBef>
                <a:spcPts val="1200"/>
              </a:spcBef>
              <a:spcAft>
                <a:spcPts val="0"/>
              </a:spcAft>
              <a:buSzPts val="1100"/>
              <a:buAutoNum type="arabicPeriod"/>
            </a:pPr>
            <a:r>
              <a:rPr b="1" lang="en-US" sz="1100">
                <a:solidFill>
                  <a:srgbClr val="000000"/>
                </a:solidFill>
                <a:latin typeface="Arial"/>
                <a:ea typeface="Arial"/>
                <a:cs typeface="Arial"/>
                <a:sym typeface="Arial"/>
              </a:rPr>
              <a:t>Analyzing Clickstream Logs:</a:t>
            </a:r>
            <a:r>
              <a:rPr lang="en-US" sz="1100">
                <a:solidFill>
                  <a:srgbClr val="000000"/>
                </a:solidFill>
                <a:latin typeface="Arial"/>
                <a:ea typeface="Arial"/>
                <a:cs typeface="Arial"/>
                <a:sym typeface="Arial"/>
              </a:rPr>
              <a:t> </a:t>
            </a:r>
            <a:r>
              <a:rPr lang="en-US" sz="1100">
                <a:solidFill>
                  <a:srgbClr val="000000"/>
                </a:solidFill>
                <a:latin typeface="Arial"/>
                <a:ea typeface="Arial"/>
                <a:cs typeface="Arial"/>
                <a:sym typeface="Arial"/>
              </a:rPr>
              <a:t>tracking specific click locations to understand exactly where users get confused at the beginning</a:t>
            </a:r>
            <a:r>
              <a:rPr lang="en-US"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SzPts val="1100"/>
              <a:buAutoNum type="arabicPeriod"/>
            </a:pPr>
            <a:r>
              <a:rPr b="1" lang="en-US" sz="1100">
                <a:solidFill>
                  <a:srgbClr val="000000"/>
                </a:solidFill>
                <a:latin typeface="Arial"/>
                <a:ea typeface="Arial"/>
                <a:cs typeface="Arial"/>
                <a:sym typeface="Arial"/>
              </a:rPr>
              <a:t>Checking Device &amp; Browser Breakdowns:</a:t>
            </a:r>
            <a:r>
              <a:rPr lang="en-US" sz="1100">
                <a:solidFill>
                  <a:srgbClr val="000000"/>
                </a:solidFill>
                <a:latin typeface="Arial"/>
                <a:ea typeface="Arial"/>
                <a:cs typeface="Arial"/>
                <a:sym typeface="Arial"/>
              </a:rPr>
              <a:t> identifying if performance drops on specific browsers or screen resolutions.</a:t>
            </a:r>
            <a:endParaRPr sz="1100">
              <a:solidFill>
                <a:srgbClr val="000000"/>
              </a:solidFill>
              <a:latin typeface="Arial"/>
              <a:ea typeface="Arial"/>
              <a:cs typeface="Arial"/>
              <a:sym typeface="Arial"/>
            </a:endParaRPr>
          </a:p>
          <a:p>
            <a:pPr indent="-298450" lvl="0" marL="457200" rtl="0" algn="l">
              <a:lnSpc>
                <a:spcPct val="115000"/>
              </a:lnSpc>
              <a:spcBef>
                <a:spcPts val="0"/>
              </a:spcBef>
              <a:spcAft>
                <a:spcPts val="0"/>
              </a:spcAft>
              <a:buSzPts val="1100"/>
              <a:buAutoNum type="arabicPeriod"/>
            </a:pPr>
            <a:r>
              <a:rPr b="1" lang="en-US" sz="1100">
                <a:solidFill>
                  <a:srgbClr val="000000"/>
                </a:solidFill>
                <a:latin typeface="Arial"/>
                <a:ea typeface="Arial"/>
                <a:cs typeface="Arial"/>
                <a:sym typeface="Arial"/>
              </a:rPr>
              <a:t>Using UX Heatmaps &amp; Error Flags:</a:t>
            </a:r>
            <a:r>
              <a:rPr lang="en-US" sz="1100">
                <a:solidFill>
                  <a:srgbClr val="000000"/>
                </a:solidFill>
                <a:latin typeface="Arial"/>
                <a:ea typeface="Arial"/>
                <a:cs typeface="Arial"/>
                <a:sym typeface="Arial"/>
              </a:rPr>
              <a:t> visualizing user friction and bug patterns to refine the UI before re-testing against the 5-point threshold.</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
        <p:nvSpPr>
          <p:cNvPr id="207" name="Google Shape;207;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Pietro: Thank everyone and open for questions. Answer questions about your own part.</a:t>
            </a:r>
            <a:endParaRPr/>
          </a:p>
        </p:txBody>
      </p:sp>
      <p:sp>
        <p:nvSpPr>
          <p:cNvPr id="232" name="Google Shape;23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7F5F0"/>
        </a:solidFill>
      </p:bgPr>
    </p:bg>
    <p:spTree>
      <p:nvGrpSpPr>
        <p:cNvPr id="12" name="Shape 12"/>
        <p:cNvGrpSpPr/>
        <p:nvPr/>
      </p:nvGrpSpPr>
      <p:grpSpPr>
        <a:xfrm>
          <a:off x="0" y="0"/>
          <a:ext cx="0" cy="0"/>
          <a:chOff x="0" y="0"/>
          <a:chExt cx="0" cy="0"/>
        </a:xfrm>
      </p:grpSpPr>
      <p:sp>
        <p:nvSpPr>
          <p:cNvPr id="13" name="Google Shape;13;p14"/>
          <p:cNvSpPr txBox="1"/>
          <p:nvPr>
            <p:ph type="title"/>
          </p:nvPr>
        </p:nvSpPr>
        <p:spPr>
          <a:xfrm>
            <a:off x="812800" y="1076920"/>
            <a:ext cx="10566400" cy="46732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4213D"/>
              </a:buClr>
              <a:buSzPts val="3200"/>
              <a:buFont typeface="Source Serif 4"/>
              <a:buNone/>
              <a:defRPr sz="3200">
                <a:solidFill>
                  <a:srgbClr val="14213D"/>
                </a:solidFill>
                <a:latin typeface="Source Serif 4"/>
                <a:ea typeface="Source Serif 4"/>
                <a:cs typeface="Source Serif 4"/>
                <a:sym typeface="Source Serif 4"/>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4"/>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320"/>
              </a:spcBef>
              <a:spcAft>
                <a:spcPts val="0"/>
              </a:spcAft>
              <a:buClr>
                <a:srgbClr val="14213D"/>
              </a:buClr>
              <a:buSzPts val="1600"/>
              <a:buNone/>
              <a:defRPr sz="1600">
                <a:solidFill>
                  <a:srgbClr val="14213D"/>
                </a:solidFill>
                <a:latin typeface="IBM Plex Sans"/>
                <a:ea typeface="IBM Plex Sans"/>
                <a:cs typeface="IBM Plex Sans"/>
                <a:sym typeface="IBM Plex Sans"/>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9" name="Shape 9"/>
        <p:cNvGrpSpPr/>
        <p:nvPr/>
      </p:nvGrpSpPr>
      <p:grpSpPr>
        <a:xfrm>
          <a:off x="0" y="0"/>
          <a:ext cx="0" cy="0"/>
          <a:chOff x="0" y="0"/>
          <a:chExt cx="0" cy="0"/>
        </a:xfrm>
      </p:grpSpPr>
      <p:sp>
        <p:nvSpPr>
          <p:cNvPr id="10" name="Google Shape;10;p13"/>
          <p:cNvSpPr txBox="1"/>
          <p:nvPr>
            <p:ph type="title"/>
          </p:nvPr>
        </p:nvSpPr>
        <p:spPr>
          <a:xfrm>
            <a:off x="812800" y="1076920"/>
            <a:ext cx="10566400" cy="46732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4213D"/>
              </a:buClr>
              <a:buSzPts val="3200"/>
              <a:buFont typeface="Source Serif 4"/>
              <a:buNone/>
              <a:defRPr b="0" i="0" sz="3200" u="none" cap="none" strike="noStrike">
                <a:solidFill>
                  <a:srgbClr val="14213D"/>
                </a:solidFill>
                <a:latin typeface="Source Serif 4"/>
                <a:ea typeface="Source Serif 4"/>
                <a:cs typeface="Source Serif 4"/>
                <a:sym typeface="Source Serif 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3"/>
          <p:cNvSpPr txBox="1"/>
          <p:nvPr>
            <p:ph idx="1" type="body"/>
          </p:nvPr>
        </p:nvSpPr>
        <p:spPr>
          <a:xfrm>
            <a:off x="812800" y="1849041"/>
            <a:ext cx="10566400" cy="419615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320"/>
              </a:spcBef>
              <a:spcAft>
                <a:spcPts val="0"/>
              </a:spcAft>
              <a:buClr>
                <a:srgbClr val="14213D"/>
              </a:buClr>
              <a:buSzPts val="1600"/>
              <a:buFont typeface="Arial"/>
              <a:buNone/>
              <a:defRPr b="0" i="0" sz="1600" u="none" cap="none" strike="noStrike">
                <a:solidFill>
                  <a:srgbClr val="14213D"/>
                </a:solidFill>
                <a:latin typeface="IBM Plex Sans"/>
                <a:ea typeface="IBM Plex Sans"/>
                <a:cs typeface="IBM Plex Sans"/>
                <a:sym typeface="IBM Plex Sans"/>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BM Plex Sans"/>
                <a:ea typeface="IBM Plex Sans"/>
                <a:cs typeface="IBM Plex Sans"/>
                <a:sym typeface="IBM Plex Sans"/>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BM Plex Sans"/>
                <a:ea typeface="IBM Plex Sans"/>
                <a:cs typeface="IBM Plex Sans"/>
                <a:sym typeface="IBM Plex Sans"/>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BM Plex Sans"/>
                <a:ea typeface="IBM Plex Sans"/>
                <a:cs typeface="IBM Plex Sans"/>
                <a:sym typeface="IBM Plex Sans"/>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hyperlink" Target="https://github.com/pari14830/vanguard-ab-test" TargetMode="External"/><Relationship Id="rId4" Type="http://schemas.openxmlformats.org/officeDocument/2006/relationships/hyperlink" Target="https://public.tableau.com/app/profile/pariya.lakani/viz/vanguard_dashboard_final/vanguard_executive_dashboard" TargetMode="External"/><Relationship Id="rId5" Type="http://schemas.openxmlformats.org/officeDocument/2006/relationships/hyperlink" Target="https://vanguardsproject.streamlit.ap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20" name="Shape 20"/>
        <p:cNvGrpSpPr/>
        <p:nvPr/>
      </p:nvGrpSpPr>
      <p:grpSpPr>
        <a:xfrm>
          <a:off x="0" y="0"/>
          <a:ext cx="0" cy="0"/>
          <a:chOff x="0" y="0"/>
          <a:chExt cx="0" cy="0"/>
        </a:xfrm>
      </p:grpSpPr>
      <p:sp>
        <p:nvSpPr>
          <p:cNvPr id="21" name="Google Shape;21;p1"/>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8A56B"/>
              </a:buClr>
              <a:buSzPts val="1200"/>
              <a:buFont typeface="IBM Plex Sans"/>
              <a:buNone/>
            </a:pPr>
            <a:r>
              <a:rPr b="0" i="0" lang="en-US" sz="1200" u="none" cap="none" strike="noStrike">
                <a:solidFill>
                  <a:srgbClr val="E8A56B"/>
                </a:solidFill>
                <a:latin typeface="IBM Plex Sans"/>
                <a:ea typeface="IBM Plex Sans"/>
                <a:cs typeface="IBM Plex Sans"/>
                <a:sym typeface="IBM Plex Sans"/>
              </a:rPr>
              <a:t>IRONHACK DATA ANALYTICS · MODULE 2 PROJECT</a:t>
            </a:r>
            <a:endParaRPr b="0" i="0" sz="1200" u="none" cap="none" strike="noStrike">
              <a:solidFill>
                <a:schemeClr val="dk1"/>
              </a:solidFill>
              <a:latin typeface="IBM Plex Sans"/>
              <a:ea typeface="IBM Plex Sans"/>
              <a:cs typeface="IBM Plex Sans"/>
              <a:sym typeface="IBM Plex Sans"/>
            </a:endParaRPr>
          </a:p>
        </p:txBody>
      </p:sp>
      <p:sp>
        <p:nvSpPr>
          <p:cNvPr id="22" name="Google Shape;22;p1"/>
          <p:cNvSpPr txBox="1"/>
          <p:nvPr>
            <p:ph type="title"/>
          </p:nvPr>
        </p:nvSpPr>
        <p:spPr>
          <a:xfrm>
            <a:off x="812800" y="2710259"/>
            <a:ext cx="10883392" cy="82550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7F5F0"/>
              </a:buClr>
              <a:buSzPts val="6000"/>
              <a:buFont typeface="Source Serif 4"/>
              <a:buNone/>
            </a:pPr>
            <a:r>
              <a:rPr b="1" i="0" lang="en-US" sz="6000">
                <a:solidFill>
                  <a:srgbClr val="F7F5F0"/>
                </a:solidFill>
                <a:latin typeface="Source Serif 4"/>
                <a:ea typeface="Source Serif 4"/>
                <a:cs typeface="Source Serif 4"/>
                <a:sym typeface="Source Serif 4"/>
              </a:rPr>
              <a:t>Did the new design work?</a:t>
            </a:r>
            <a:endParaRPr sz="6000"/>
          </a:p>
        </p:txBody>
      </p:sp>
      <p:sp>
        <p:nvSpPr>
          <p:cNvPr id="23" name="Google Shape;23;p1"/>
          <p:cNvSpPr/>
          <p:nvPr/>
        </p:nvSpPr>
        <p:spPr>
          <a:xfrm>
            <a:off x="812800" y="3713559"/>
            <a:ext cx="10883392" cy="38854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D3E6"/>
              </a:buClr>
              <a:buSzPts val="2200"/>
              <a:buFont typeface="IBM Plex Sans"/>
              <a:buNone/>
            </a:pPr>
            <a:r>
              <a:rPr b="0" i="0" lang="en-US" sz="2200" u="none" cap="none" strike="noStrike">
                <a:solidFill>
                  <a:srgbClr val="C9D3E6"/>
                </a:solidFill>
                <a:latin typeface="IBM Plex Sans"/>
                <a:ea typeface="IBM Plex Sans"/>
                <a:cs typeface="IBM Plex Sans"/>
                <a:sym typeface="IBM Plex Sans"/>
              </a:rPr>
              <a:t>A/B test of Vanguard’s redesigned online process</a:t>
            </a:r>
            <a:endParaRPr b="0" i="0" sz="2200" u="none" cap="none" strike="noStrike">
              <a:solidFill>
                <a:schemeClr val="dk1"/>
              </a:solidFill>
              <a:latin typeface="IBM Plex Sans"/>
              <a:ea typeface="IBM Plex Sans"/>
              <a:cs typeface="IBM Plex Sans"/>
              <a:sym typeface="IBM Plex Sans"/>
            </a:endParaRPr>
          </a:p>
        </p:txBody>
      </p:sp>
      <p:sp>
        <p:nvSpPr>
          <p:cNvPr id="24" name="Google Shape;24;p1"/>
          <p:cNvSpPr/>
          <p:nvPr/>
        </p:nvSpPr>
        <p:spPr>
          <a:xfrm>
            <a:off x="812800" y="5760740"/>
            <a:ext cx="4229457"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7F5F0"/>
              </a:buClr>
              <a:buSzPts val="1600"/>
              <a:buFont typeface="IBM Plex Sans"/>
              <a:buNone/>
            </a:pPr>
            <a:r>
              <a:rPr b="1" i="0" lang="en-US" sz="1600" u="none" cap="none" strike="noStrike">
                <a:solidFill>
                  <a:srgbClr val="F7F5F0"/>
                </a:solidFill>
                <a:latin typeface="IBM Plex Sans"/>
                <a:ea typeface="IBM Plex Sans"/>
                <a:cs typeface="IBM Plex Sans"/>
                <a:sym typeface="IBM Plex Sans"/>
              </a:rPr>
              <a:t>Team Hufflepuff</a:t>
            </a:r>
            <a:r>
              <a:rPr b="0" i="0" lang="en-US" sz="1600" u="none" cap="none" strike="noStrike">
                <a:solidFill>
                  <a:srgbClr val="F7F5F0"/>
                </a:solidFill>
                <a:latin typeface="IBM Plex Sans"/>
                <a:ea typeface="IBM Plex Sans"/>
                <a:cs typeface="IBM Plex Sans"/>
                <a:sym typeface="IBM Plex Sans"/>
              </a:rPr>
              <a:t> · Pariya · Pietro · Yurii</a:t>
            </a:r>
            <a:endParaRPr b="0" i="0" sz="1600" u="none" cap="none" strike="noStrike">
              <a:solidFill>
                <a:schemeClr val="dk1"/>
              </a:solidFill>
              <a:latin typeface="IBM Plex Sans"/>
              <a:ea typeface="IBM Plex Sans"/>
              <a:cs typeface="IBM Plex Sans"/>
              <a:sym typeface="IBM Plex Sans"/>
            </a:endParaRPr>
          </a:p>
        </p:txBody>
      </p:sp>
      <p:sp>
        <p:nvSpPr>
          <p:cNvPr id="25" name="Google Shape;25;p1"/>
          <p:cNvSpPr/>
          <p:nvPr/>
        </p:nvSpPr>
        <p:spPr>
          <a:xfrm>
            <a:off x="9385260" y="5831880"/>
            <a:ext cx="1993940"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C9D3E6"/>
              </a:buClr>
              <a:buSzPts val="1200"/>
              <a:buFont typeface="IBM Plex Sans"/>
              <a:buNone/>
            </a:pPr>
            <a:r>
              <a:rPr b="0" i="0" lang="en-US" sz="1200" u="none" cap="none" strike="noStrike">
                <a:solidFill>
                  <a:srgbClr val="C9D3E6"/>
                </a:solidFill>
                <a:latin typeface="IBM Plex Sans"/>
                <a:ea typeface="IBM Plex Sans"/>
                <a:cs typeface="IBM Plex Sans"/>
                <a:sym typeface="IBM Plex Sans"/>
              </a:rPr>
              <a:t>Friday, 23 October 2026</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30" name="Shape 30"/>
        <p:cNvGrpSpPr/>
        <p:nvPr/>
      </p:nvGrpSpPr>
      <p:grpSpPr>
        <a:xfrm>
          <a:off x="0" y="0"/>
          <a:ext cx="0" cy="0"/>
          <a:chOff x="0" y="0"/>
          <a:chExt cx="0" cy="0"/>
        </a:xfrm>
      </p:grpSpPr>
      <p:sp>
        <p:nvSpPr>
          <p:cNvPr id="31" name="Google Shape;31;p2"/>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61A"/>
              </a:buClr>
              <a:buSzPts val="1200"/>
              <a:buFont typeface="IBM Plex Sans"/>
              <a:buNone/>
            </a:pPr>
            <a:r>
              <a:rPr b="0" i="0" lang="en-US" sz="1200" u="none" cap="none" strike="noStrike">
                <a:solidFill>
                  <a:srgbClr val="B4561A"/>
                </a:solidFill>
                <a:latin typeface="IBM Plex Sans"/>
                <a:ea typeface="IBM Plex Sans"/>
                <a:cs typeface="IBM Plex Sans"/>
                <a:sym typeface="IBM Plex Sans"/>
              </a:rPr>
              <a:t>THE QUESTION</a:t>
            </a:r>
            <a:endParaRPr b="0" i="0" sz="1200" u="none" cap="none" strike="noStrike">
              <a:solidFill>
                <a:schemeClr val="dk1"/>
              </a:solidFill>
              <a:latin typeface="IBM Plex Sans"/>
              <a:ea typeface="IBM Plex Sans"/>
              <a:cs typeface="IBM Plex Sans"/>
              <a:sym typeface="IBM Plex Sans"/>
            </a:endParaRPr>
          </a:p>
        </p:txBody>
      </p:sp>
      <p:sp>
        <p:nvSpPr>
          <p:cNvPr id="32" name="Google Shape;32;p2"/>
          <p:cNvSpPr txBox="1"/>
          <p:nvPr>
            <p:ph type="title"/>
          </p:nvPr>
        </p:nvSpPr>
        <p:spPr>
          <a:xfrm>
            <a:off x="812800" y="1076920"/>
            <a:ext cx="10883392"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Does the new design help more clients finish?</a:t>
            </a:r>
            <a:endParaRPr sz="3200"/>
          </a:p>
        </p:txBody>
      </p:sp>
      <p:sp>
        <p:nvSpPr>
          <p:cNvPr id="33" name="Google Shape;33;p2"/>
          <p:cNvSpPr/>
          <p:nvPr/>
        </p:nvSpPr>
        <p:spPr>
          <a:xfrm>
            <a:off x="812800" y="1595041"/>
            <a:ext cx="10883392"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600"/>
              <a:buFont typeface="IBM Plex Sans"/>
              <a:buNone/>
            </a:pPr>
            <a:r>
              <a:rPr b="1" i="0" lang="en-US" sz="1600" u="none" cap="none" strike="noStrike">
                <a:solidFill>
                  <a:srgbClr val="1F2A44"/>
                </a:solidFill>
                <a:latin typeface="IBM Plex Sans"/>
                <a:ea typeface="IBM Plex Sans"/>
                <a:cs typeface="IBM Plex Sans"/>
                <a:sym typeface="IBM Plex Sans"/>
              </a:rPr>
              <a:t>Short answer:</a:t>
            </a:r>
            <a:r>
              <a:rPr b="0" i="0" lang="en-US" sz="1600" u="none" cap="none" strike="noStrike">
                <a:solidFill>
                  <a:srgbClr val="1F2A44"/>
                </a:solidFill>
                <a:latin typeface="IBM Plex Sans"/>
                <a:ea typeface="IBM Plex Sans"/>
                <a:cs typeface="IBM Plex Sans"/>
                <a:sym typeface="IBM Plex Sans"/>
              </a:rPr>
              <a:t> the new design helps, but not enough yet to justify its cost.</a:t>
            </a:r>
            <a:endParaRPr b="0" i="0" sz="1600" u="none" cap="none" strike="noStrike">
              <a:solidFill>
                <a:schemeClr val="dk1"/>
              </a:solidFill>
              <a:latin typeface="IBM Plex Sans"/>
              <a:ea typeface="IBM Plex Sans"/>
              <a:cs typeface="IBM Plex Sans"/>
              <a:sym typeface="IBM Plex Sans"/>
            </a:endParaRPr>
          </a:p>
        </p:txBody>
      </p:sp>
      <p:sp>
        <p:nvSpPr>
          <p:cNvPr id="34" name="Google Shape;34;p2"/>
          <p:cNvSpPr/>
          <p:nvPr/>
        </p:nvSpPr>
        <p:spPr>
          <a:xfrm>
            <a:off x="812800" y="2184301"/>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Web events per step of the online process (both groups)</a:t>
            </a:r>
            <a:endParaRPr b="0" i="0" sz="1200" u="none" cap="none" strike="noStrike">
              <a:solidFill>
                <a:schemeClr val="dk1"/>
              </a:solidFill>
              <a:latin typeface="IBM Plex Sans"/>
              <a:ea typeface="IBM Plex Sans"/>
              <a:cs typeface="IBM Plex Sans"/>
              <a:sym typeface="IBM Plex Sans"/>
            </a:endParaRPr>
          </a:p>
        </p:txBody>
      </p:sp>
      <p:cxnSp>
        <p:nvCxnSpPr>
          <p:cNvPr id="35" name="Google Shape;35;p2"/>
          <p:cNvCxnSpPr/>
          <p:nvPr/>
        </p:nvCxnSpPr>
        <p:spPr>
          <a:xfrm>
            <a:off x="812800" y="3760291"/>
            <a:ext cx="10566400" cy="0"/>
          </a:xfrm>
          <a:prstGeom prst="straightConnector1">
            <a:avLst/>
          </a:prstGeom>
          <a:noFill/>
          <a:ln cap="flat" cmpd="sng" w="12700">
            <a:solidFill>
              <a:srgbClr val="9AA3B2"/>
            </a:solidFill>
            <a:prstDash val="solid"/>
            <a:round/>
            <a:headEnd len="sm" w="sm" type="none"/>
            <a:tailEnd len="sm" w="sm" type="none"/>
          </a:ln>
        </p:spPr>
      </p:cxnSp>
      <p:sp>
        <p:nvSpPr>
          <p:cNvPr id="36" name="Google Shape;36;p2"/>
          <p:cNvSpPr/>
          <p:nvPr/>
        </p:nvSpPr>
        <p:spPr>
          <a:xfrm>
            <a:off x="1431538" y="2473821"/>
            <a:ext cx="713065"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F2A44"/>
              </a:buClr>
              <a:buSzPts val="1200"/>
              <a:buFont typeface="IBM Plex Sans"/>
              <a:buNone/>
            </a:pPr>
            <a:r>
              <a:rPr b="1" i="0" lang="en-US" sz="1200" u="none" cap="none" strike="noStrike">
                <a:solidFill>
                  <a:srgbClr val="1F2A44"/>
                </a:solidFill>
                <a:latin typeface="IBM Plex Sans"/>
                <a:ea typeface="IBM Plex Sans"/>
                <a:cs typeface="IBM Plex Sans"/>
                <a:sym typeface="IBM Plex Sans"/>
              </a:rPr>
              <a:t>101,119</a:t>
            </a:r>
            <a:endParaRPr b="0" i="0" sz="1200" u="none" cap="none" strike="noStrike">
              <a:solidFill>
                <a:schemeClr val="dk1"/>
              </a:solidFill>
              <a:latin typeface="IBM Plex Sans"/>
              <a:ea typeface="IBM Plex Sans"/>
              <a:cs typeface="IBM Plex Sans"/>
              <a:sym typeface="IBM Plex Sans"/>
            </a:endParaRPr>
          </a:p>
        </p:txBody>
      </p:sp>
      <p:sp>
        <p:nvSpPr>
          <p:cNvPr id="37" name="Google Shape;37;p2"/>
          <p:cNvSpPr/>
          <p:nvPr/>
        </p:nvSpPr>
        <p:spPr>
          <a:xfrm>
            <a:off x="812800" y="2737941"/>
            <a:ext cx="1950641" cy="1016000"/>
          </a:xfrm>
          <a:custGeom>
            <a:rect b="b" l="l" r="r" t="t"/>
            <a:pathLst>
              <a:path extrusionOk="0" h="1016000" w="1950641">
                <a:moveTo>
                  <a:pt x="38100" y="0"/>
                </a:moveTo>
                <a:lnTo>
                  <a:pt x="1912541" y="0"/>
                </a:lnTo>
                <a:cubicBezTo>
                  <a:pt x="1922646" y="0"/>
                  <a:pt x="1932337" y="4014"/>
                  <a:pt x="1939482" y="11159"/>
                </a:cubicBezTo>
                <a:cubicBezTo>
                  <a:pt x="1946627" y="18304"/>
                  <a:pt x="1950641" y="27995"/>
                  <a:pt x="1950641" y="38100"/>
                </a:cubicBezTo>
                <a:lnTo>
                  <a:pt x="1950641" y="1016000"/>
                </a:lnTo>
                <a:lnTo>
                  <a:pt x="0" y="1016000"/>
                </a:lnTo>
                <a:lnTo>
                  <a:pt x="0" y="38100"/>
                </a:lnTo>
                <a:cubicBezTo>
                  <a:pt x="0" y="17058"/>
                  <a:pt x="17058" y="0"/>
                  <a:pt x="38100" y="0"/>
                </a:cubicBezTo>
                <a:close/>
              </a:path>
            </a:pathLst>
          </a:custGeom>
          <a:solidFill>
            <a:srgbClr val="9FB4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3640257" y="2804021"/>
            <a:ext cx="603409"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F2A44"/>
              </a:buClr>
              <a:buSzPts val="1200"/>
              <a:buFont typeface="IBM Plex Sans"/>
              <a:buNone/>
            </a:pPr>
            <a:r>
              <a:rPr b="1" i="0" lang="en-US" sz="1200" u="none" cap="none" strike="noStrike">
                <a:solidFill>
                  <a:srgbClr val="1F2A44"/>
                </a:solidFill>
                <a:latin typeface="IBM Plex Sans"/>
                <a:ea typeface="IBM Plex Sans"/>
                <a:cs typeface="IBM Plex Sans"/>
                <a:sym typeface="IBM Plex Sans"/>
              </a:rPr>
              <a:t>68,186</a:t>
            </a:r>
            <a:endParaRPr b="0" i="0" sz="1200" u="none" cap="none" strike="noStrike">
              <a:solidFill>
                <a:schemeClr val="dk1"/>
              </a:solidFill>
              <a:latin typeface="IBM Plex Sans"/>
              <a:ea typeface="IBM Plex Sans"/>
              <a:cs typeface="IBM Plex Sans"/>
              <a:sym typeface="IBM Plex Sans"/>
            </a:endParaRPr>
          </a:p>
        </p:txBody>
      </p:sp>
      <p:sp>
        <p:nvSpPr>
          <p:cNvPr id="39" name="Google Shape;39;p2"/>
          <p:cNvSpPr/>
          <p:nvPr/>
        </p:nvSpPr>
        <p:spPr>
          <a:xfrm>
            <a:off x="2966641" y="3068141"/>
            <a:ext cx="1950740" cy="685800"/>
          </a:xfrm>
          <a:custGeom>
            <a:rect b="b" l="l" r="r" t="t"/>
            <a:pathLst>
              <a:path extrusionOk="0" h="685800" w="1950740">
                <a:moveTo>
                  <a:pt x="38100" y="0"/>
                </a:moveTo>
                <a:lnTo>
                  <a:pt x="1912640" y="0"/>
                </a:lnTo>
                <a:cubicBezTo>
                  <a:pt x="1922745" y="0"/>
                  <a:pt x="1932436" y="4014"/>
                  <a:pt x="1939581" y="11159"/>
                </a:cubicBezTo>
                <a:cubicBezTo>
                  <a:pt x="1946726" y="18304"/>
                  <a:pt x="1950740" y="27995"/>
                  <a:pt x="1950740" y="38100"/>
                </a:cubicBezTo>
                <a:lnTo>
                  <a:pt x="1950740" y="685800"/>
                </a:lnTo>
                <a:lnTo>
                  <a:pt x="0" y="685800"/>
                </a:lnTo>
                <a:lnTo>
                  <a:pt x="0" y="38100"/>
                </a:lnTo>
                <a:cubicBezTo>
                  <a:pt x="0" y="17058"/>
                  <a:pt x="17058" y="0"/>
                  <a:pt x="38100" y="0"/>
                </a:cubicBezTo>
                <a:close/>
              </a:path>
            </a:pathLst>
          </a:custGeom>
          <a:solidFill>
            <a:srgbClr val="9FB4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5794196" y="2918321"/>
            <a:ext cx="603409"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F2A44"/>
              </a:buClr>
              <a:buSzPts val="1200"/>
              <a:buFont typeface="IBM Plex Sans"/>
              <a:buNone/>
            </a:pPr>
            <a:r>
              <a:rPr b="1" i="0" lang="en-US" sz="1200" u="none" cap="none" strike="noStrike">
                <a:solidFill>
                  <a:srgbClr val="1F2A44"/>
                </a:solidFill>
                <a:latin typeface="IBM Plex Sans"/>
                <a:ea typeface="IBM Plex Sans"/>
                <a:cs typeface="IBM Plex Sans"/>
                <a:sym typeface="IBM Plex Sans"/>
              </a:rPr>
              <a:t>56,654</a:t>
            </a:r>
            <a:endParaRPr b="0" i="0" sz="1200" u="none" cap="none" strike="noStrike">
              <a:solidFill>
                <a:schemeClr val="dk1"/>
              </a:solidFill>
              <a:latin typeface="IBM Plex Sans"/>
              <a:ea typeface="IBM Plex Sans"/>
              <a:cs typeface="IBM Plex Sans"/>
              <a:sym typeface="IBM Plex Sans"/>
            </a:endParaRPr>
          </a:p>
        </p:txBody>
      </p:sp>
      <p:sp>
        <p:nvSpPr>
          <p:cNvPr id="41" name="Google Shape;41;p2"/>
          <p:cNvSpPr/>
          <p:nvPr/>
        </p:nvSpPr>
        <p:spPr>
          <a:xfrm>
            <a:off x="5120580" y="3182441"/>
            <a:ext cx="1950740" cy="571500"/>
          </a:xfrm>
          <a:custGeom>
            <a:rect b="b" l="l" r="r" t="t"/>
            <a:pathLst>
              <a:path extrusionOk="0" h="571500" w="1950740">
                <a:moveTo>
                  <a:pt x="38100" y="0"/>
                </a:moveTo>
                <a:lnTo>
                  <a:pt x="1912640" y="0"/>
                </a:lnTo>
                <a:cubicBezTo>
                  <a:pt x="1922745" y="0"/>
                  <a:pt x="1932436" y="4014"/>
                  <a:pt x="1939581" y="11159"/>
                </a:cubicBezTo>
                <a:cubicBezTo>
                  <a:pt x="1946726" y="18304"/>
                  <a:pt x="1950740" y="27995"/>
                  <a:pt x="1950740" y="38100"/>
                </a:cubicBezTo>
                <a:lnTo>
                  <a:pt x="1950740" y="571500"/>
                </a:lnTo>
                <a:lnTo>
                  <a:pt x="0" y="571500"/>
                </a:lnTo>
                <a:lnTo>
                  <a:pt x="0" y="38100"/>
                </a:lnTo>
                <a:cubicBezTo>
                  <a:pt x="0" y="17058"/>
                  <a:pt x="17058" y="0"/>
                  <a:pt x="38100" y="0"/>
                </a:cubicBezTo>
                <a:close/>
              </a:path>
            </a:pathLst>
          </a:custGeom>
          <a:solidFill>
            <a:srgbClr val="9FB4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7948136" y="3007221"/>
            <a:ext cx="603409"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F2A44"/>
              </a:buClr>
              <a:buSzPts val="1200"/>
              <a:buFont typeface="IBM Plex Sans"/>
              <a:buNone/>
            </a:pPr>
            <a:r>
              <a:rPr b="1" i="0" lang="en-US" sz="1200" u="none" cap="none" strike="noStrike">
                <a:solidFill>
                  <a:srgbClr val="1F2A44"/>
                </a:solidFill>
                <a:latin typeface="IBM Plex Sans"/>
                <a:ea typeface="IBM Plex Sans"/>
                <a:cs typeface="IBM Plex Sans"/>
                <a:sym typeface="IBM Plex Sans"/>
              </a:rPr>
              <a:t>48,252</a:t>
            </a:r>
            <a:endParaRPr b="0" i="0" sz="1200" u="none" cap="none" strike="noStrike">
              <a:solidFill>
                <a:schemeClr val="dk1"/>
              </a:solidFill>
              <a:latin typeface="IBM Plex Sans"/>
              <a:ea typeface="IBM Plex Sans"/>
              <a:cs typeface="IBM Plex Sans"/>
              <a:sym typeface="IBM Plex Sans"/>
            </a:endParaRPr>
          </a:p>
        </p:txBody>
      </p:sp>
      <p:sp>
        <p:nvSpPr>
          <p:cNvPr id="43" name="Google Shape;43;p2"/>
          <p:cNvSpPr/>
          <p:nvPr/>
        </p:nvSpPr>
        <p:spPr>
          <a:xfrm>
            <a:off x="7274520" y="3271341"/>
            <a:ext cx="1950740" cy="482600"/>
          </a:xfrm>
          <a:custGeom>
            <a:rect b="b" l="l" r="r" t="t"/>
            <a:pathLst>
              <a:path extrusionOk="0" h="482600" w="1950740">
                <a:moveTo>
                  <a:pt x="38100" y="0"/>
                </a:moveTo>
                <a:lnTo>
                  <a:pt x="1912640" y="0"/>
                </a:lnTo>
                <a:cubicBezTo>
                  <a:pt x="1922745" y="0"/>
                  <a:pt x="1932436" y="4014"/>
                  <a:pt x="1939581" y="11159"/>
                </a:cubicBezTo>
                <a:cubicBezTo>
                  <a:pt x="1946726" y="18304"/>
                  <a:pt x="1950740" y="27995"/>
                  <a:pt x="1950740" y="38100"/>
                </a:cubicBezTo>
                <a:lnTo>
                  <a:pt x="1950740" y="482600"/>
                </a:lnTo>
                <a:lnTo>
                  <a:pt x="0" y="482600"/>
                </a:lnTo>
                <a:lnTo>
                  <a:pt x="0" y="38100"/>
                </a:lnTo>
                <a:cubicBezTo>
                  <a:pt x="0" y="17058"/>
                  <a:pt x="17058" y="0"/>
                  <a:pt x="38100" y="0"/>
                </a:cubicBezTo>
                <a:close/>
              </a:path>
            </a:pathLst>
          </a:custGeom>
          <a:solidFill>
            <a:srgbClr val="9FB4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10102076" y="3058021"/>
            <a:ext cx="603409"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4213D"/>
              </a:buClr>
              <a:buSzPts val="1200"/>
              <a:buFont typeface="IBM Plex Sans"/>
              <a:buNone/>
            </a:pPr>
            <a:r>
              <a:rPr b="1" i="0" lang="en-US" sz="1200" u="none" cap="none" strike="noStrike">
                <a:solidFill>
                  <a:srgbClr val="14213D"/>
                </a:solidFill>
                <a:latin typeface="IBM Plex Sans"/>
                <a:ea typeface="IBM Plex Sans"/>
                <a:cs typeface="IBM Plex Sans"/>
                <a:sym typeface="IBM Plex Sans"/>
              </a:rPr>
              <a:t>42,924</a:t>
            </a:r>
            <a:endParaRPr b="0" i="0" sz="1200" u="none" cap="none" strike="noStrike">
              <a:solidFill>
                <a:schemeClr val="dk1"/>
              </a:solidFill>
              <a:latin typeface="IBM Plex Sans"/>
              <a:ea typeface="IBM Plex Sans"/>
              <a:cs typeface="IBM Plex Sans"/>
              <a:sym typeface="IBM Plex Sans"/>
            </a:endParaRPr>
          </a:p>
        </p:txBody>
      </p:sp>
      <p:sp>
        <p:nvSpPr>
          <p:cNvPr id="45" name="Google Shape;45;p2"/>
          <p:cNvSpPr/>
          <p:nvPr/>
        </p:nvSpPr>
        <p:spPr>
          <a:xfrm>
            <a:off x="9428460" y="3322141"/>
            <a:ext cx="1950740" cy="431800"/>
          </a:xfrm>
          <a:custGeom>
            <a:rect b="b" l="l" r="r" t="t"/>
            <a:pathLst>
              <a:path extrusionOk="0" h="431800" w="1950740">
                <a:moveTo>
                  <a:pt x="38100" y="0"/>
                </a:moveTo>
                <a:lnTo>
                  <a:pt x="1912640" y="0"/>
                </a:lnTo>
                <a:cubicBezTo>
                  <a:pt x="1922745" y="0"/>
                  <a:pt x="1932436" y="4014"/>
                  <a:pt x="1939581" y="11159"/>
                </a:cubicBezTo>
                <a:cubicBezTo>
                  <a:pt x="1946726" y="18304"/>
                  <a:pt x="1950740" y="27995"/>
                  <a:pt x="1950740" y="38100"/>
                </a:cubicBezTo>
                <a:lnTo>
                  <a:pt x="1950740" y="431800"/>
                </a:lnTo>
                <a:lnTo>
                  <a:pt x="0" y="431800"/>
                </a:lnTo>
                <a:lnTo>
                  <a:pt x="0" y="38100"/>
                </a:lnTo>
                <a:cubicBezTo>
                  <a:pt x="0" y="17058"/>
                  <a:pt x="17058" y="0"/>
                  <a:pt x="38100" y="0"/>
                </a:cubicBezTo>
                <a:close/>
              </a:path>
            </a:pathLst>
          </a:cu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783540" y="3842841"/>
            <a:ext cx="2009160" cy="27424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4213D"/>
              </a:buClr>
              <a:buSzPts val="1400"/>
              <a:buFont typeface="IBM Plex Sans"/>
              <a:buNone/>
            </a:pPr>
            <a:r>
              <a:rPr b="1" i="0" lang="en-US" sz="1400" u="none" cap="none" strike="noStrike">
                <a:solidFill>
                  <a:srgbClr val="14213D"/>
                </a:solidFill>
                <a:latin typeface="IBM Plex Sans"/>
                <a:ea typeface="IBM Plex Sans"/>
                <a:cs typeface="IBM Plex Sans"/>
                <a:sym typeface="IBM Plex Sans"/>
              </a:rPr>
              <a:t>start</a:t>
            </a:r>
            <a:endParaRPr b="0" i="0" sz="1400" u="none" cap="none" strike="noStrike">
              <a:solidFill>
                <a:schemeClr val="dk1"/>
              </a:solidFill>
              <a:latin typeface="IBM Plex Sans"/>
              <a:ea typeface="IBM Plex Sans"/>
              <a:cs typeface="IBM Plex Sans"/>
              <a:sym typeface="IBM Plex Sans"/>
            </a:endParaRPr>
          </a:p>
        </p:txBody>
      </p:sp>
      <p:sp>
        <p:nvSpPr>
          <p:cNvPr id="47" name="Google Shape;47;p2"/>
          <p:cNvSpPr/>
          <p:nvPr/>
        </p:nvSpPr>
        <p:spPr>
          <a:xfrm>
            <a:off x="2937380" y="3842841"/>
            <a:ext cx="2009262" cy="27424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4213D"/>
              </a:buClr>
              <a:buSzPts val="1400"/>
              <a:buFont typeface="IBM Plex Sans"/>
              <a:buNone/>
            </a:pPr>
            <a:r>
              <a:rPr b="1" i="0" lang="en-US" sz="1400" u="none" cap="none" strike="noStrike">
                <a:solidFill>
                  <a:srgbClr val="14213D"/>
                </a:solidFill>
                <a:latin typeface="IBM Plex Sans"/>
                <a:ea typeface="IBM Plex Sans"/>
                <a:cs typeface="IBM Plex Sans"/>
                <a:sym typeface="IBM Plex Sans"/>
              </a:rPr>
              <a:t>step 1</a:t>
            </a:r>
            <a:endParaRPr b="0" i="0" sz="1400" u="none" cap="none" strike="noStrike">
              <a:solidFill>
                <a:schemeClr val="dk1"/>
              </a:solidFill>
              <a:latin typeface="IBM Plex Sans"/>
              <a:ea typeface="IBM Plex Sans"/>
              <a:cs typeface="IBM Plex Sans"/>
              <a:sym typeface="IBM Plex Sans"/>
            </a:endParaRPr>
          </a:p>
        </p:txBody>
      </p:sp>
      <p:sp>
        <p:nvSpPr>
          <p:cNvPr id="48" name="Google Shape;48;p2"/>
          <p:cNvSpPr/>
          <p:nvPr/>
        </p:nvSpPr>
        <p:spPr>
          <a:xfrm>
            <a:off x="5091319" y="3842841"/>
            <a:ext cx="2009262" cy="27424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4213D"/>
              </a:buClr>
              <a:buSzPts val="1400"/>
              <a:buFont typeface="IBM Plex Sans"/>
              <a:buNone/>
            </a:pPr>
            <a:r>
              <a:rPr b="1" i="0" lang="en-US" sz="1400" u="none" cap="none" strike="noStrike">
                <a:solidFill>
                  <a:srgbClr val="14213D"/>
                </a:solidFill>
                <a:latin typeface="IBM Plex Sans"/>
                <a:ea typeface="IBM Plex Sans"/>
                <a:cs typeface="IBM Plex Sans"/>
                <a:sym typeface="IBM Plex Sans"/>
              </a:rPr>
              <a:t>step 2</a:t>
            </a:r>
            <a:endParaRPr b="0" i="0" sz="1400" u="none" cap="none" strike="noStrike">
              <a:solidFill>
                <a:schemeClr val="dk1"/>
              </a:solidFill>
              <a:latin typeface="IBM Plex Sans"/>
              <a:ea typeface="IBM Plex Sans"/>
              <a:cs typeface="IBM Plex Sans"/>
              <a:sym typeface="IBM Plex Sans"/>
            </a:endParaRPr>
          </a:p>
        </p:txBody>
      </p:sp>
      <p:sp>
        <p:nvSpPr>
          <p:cNvPr id="49" name="Google Shape;49;p2"/>
          <p:cNvSpPr/>
          <p:nvPr/>
        </p:nvSpPr>
        <p:spPr>
          <a:xfrm>
            <a:off x="7245259" y="3842841"/>
            <a:ext cx="2009262" cy="27424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4213D"/>
              </a:buClr>
              <a:buSzPts val="1400"/>
              <a:buFont typeface="IBM Plex Sans"/>
              <a:buNone/>
            </a:pPr>
            <a:r>
              <a:rPr b="1" i="0" lang="en-US" sz="1400" u="none" cap="none" strike="noStrike">
                <a:solidFill>
                  <a:srgbClr val="14213D"/>
                </a:solidFill>
                <a:latin typeface="IBM Plex Sans"/>
                <a:ea typeface="IBM Plex Sans"/>
                <a:cs typeface="IBM Plex Sans"/>
                <a:sym typeface="IBM Plex Sans"/>
              </a:rPr>
              <a:t>step 3</a:t>
            </a:r>
            <a:endParaRPr b="0" i="0" sz="1400" u="none" cap="none" strike="noStrike">
              <a:solidFill>
                <a:schemeClr val="dk1"/>
              </a:solidFill>
              <a:latin typeface="IBM Plex Sans"/>
              <a:ea typeface="IBM Plex Sans"/>
              <a:cs typeface="IBM Plex Sans"/>
              <a:sym typeface="IBM Plex Sans"/>
            </a:endParaRPr>
          </a:p>
        </p:txBody>
      </p:sp>
      <p:sp>
        <p:nvSpPr>
          <p:cNvPr id="50" name="Google Shape;50;p2"/>
          <p:cNvSpPr/>
          <p:nvPr/>
        </p:nvSpPr>
        <p:spPr>
          <a:xfrm>
            <a:off x="9399199" y="3842841"/>
            <a:ext cx="2009262" cy="27424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4213D"/>
              </a:buClr>
              <a:buSzPts val="1400"/>
              <a:buFont typeface="IBM Plex Sans"/>
              <a:buNone/>
            </a:pPr>
            <a:r>
              <a:rPr b="1" i="0" lang="en-US" sz="1400" u="none" cap="none" strike="noStrike">
                <a:solidFill>
                  <a:srgbClr val="14213D"/>
                </a:solidFill>
                <a:latin typeface="IBM Plex Sans"/>
                <a:ea typeface="IBM Plex Sans"/>
                <a:cs typeface="IBM Plex Sans"/>
                <a:sym typeface="IBM Plex Sans"/>
              </a:rPr>
              <a:t>confirm</a:t>
            </a:r>
            <a:endParaRPr b="0" i="0" sz="1400" u="none" cap="none" strike="noStrike">
              <a:solidFill>
                <a:schemeClr val="dk1"/>
              </a:solidFill>
              <a:latin typeface="IBM Plex Sans"/>
              <a:ea typeface="IBM Plex Sans"/>
              <a:cs typeface="IBM Plex Sans"/>
              <a:sym typeface="IBM Plex Sans"/>
            </a:endParaRPr>
          </a:p>
        </p:txBody>
      </p:sp>
      <p:sp>
        <p:nvSpPr>
          <p:cNvPr id="51" name="Google Shape;51;p2"/>
          <p:cNvSpPr/>
          <p:nvPr/>
        </p:nvSpPr>
        <p:spPr>
          <a:xfrm>
            <a:off x="812800" y="4396482"/>
            <a:ext cx="3386634" cy="1249462"/>
          </a:xfrm>
          <a:prstGeom prst="roundRect">
            <a:avLst>
              <a:gd fmla="val 6099" name="adj"/>
            </a:avLst>
          </a:prstGeom>
          <a:solidFill>
            <a:srgbClr val="FFF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812800" y="4396482"/>
            <a:ext cx="3386634" cy="1249462"/>
          </a:xfrm>
          <a:custGeom>
            <a:rect b="b" l="l" r="r" t="t"/>
            <a:pathLst>
              <a:path extrusionOk="0" h="1249462" w="3386634">
                <a:moveTo>
                  <a:pt x="0" y="76200"/>
                </a:moveTo>
                <a:lnTo>
                  <a:pt x="0" y="76200"/>
                </a:lnTo>
                <a:cubicBezTo>
                  <a:pt x="0" y="34116"/>
                  <a:pt x="34116" y="0"/>
                  <a:pt x="76200" y="0"/>
                </a:cubicBezTo>
                <a:lnTo>
                  <a:pt x="3310434" y="0"/>
                </a:lnTo>
                <a:cubicBezTo>
                  <a:pt x="3330643" y="0"/>
                  <a:pt x="3350025" y="8028"/>
                  <a:pt x="3364316" y="22318"/>
                </a:cubicBezTo>
                <a:cubicBezTo>
                  <a:pt x="3378606" y="36609"/>
                  <a:pt x="3386634" y="55991"/>
                  <a:pt x="3386634" y="76200"/>
                </a:cubicBezTo>
                <a:lnTo>
                  <a:pt x="3386634" y="76200"/>
                </a:lnTo>
                <a:cubicBezTo>
                  <a:pt x="3386634" y="62172"/>
                  <a:pt x="3352518" y="50800"/>
                  <a:pt x="3310434" y="50800"/>
                </a:cubicBezTo>
                <a:lnTo>
                  <a:pt x="76200" y="50800"/>
                </a:lnTo>
                <a:cubicBezTo>
                  <a:pt x="34116" y="50800"/>
                  <a:pt x="0" y="62172"/>
                  <a:pt x="0" y="76200"/>
                </a:cubicBezTo>
                <a:close/>
              </a:path>
            </a:pathLst>
          </a:custGeom>
          <a:solidFill>
            <a:srgbClr val="2F5D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1016000" y="4650482"/>
            <a:ext cx="3069641" cy="2691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2F5D9E"/>
              </a:buClr>
              <a:buSzPts val="1600"/>
              <a:buFont typeface="IBM Plex Sans"/>
              <a:buNone/>
            </a:pPr>
            <a:r>
              <a:rPr b="1" i="0" lang="en-US" sz="1600" u="none" cap="none" strike="noStrike">
                <a:solidFill>
                  <a:srgbClr val="2F5D9E"/>
                </a:solidFill>
                <a:latin typeface="IBM Plex Sans"/>
                <a:ea typeface="IBM Plex Sans"/>
                <a:cs typeface="IBM Plex Sans"/>
                <a:sym typeface="IBM Plex Sans"/>
              </a:rPr>
              <a:t>Control</a:t>
            </a:r>
            <a:endParaRPr b="0" i="0" sz="1600" u="none" cap="none" strike="noStrike">
              <a:solidFill>
                <a:schemeClr val="dk1"/>
              </a:solidFill>
              <a:latin typeface="IBM Plex Sans"/>
              <a:ea typeface="IBM Plex Sans"/>
              <a:cs typeface="IBM Plex Sans"/>
              <a:sym typeface="IBM Plex Sans"/>
            </a:endParaRPr>
          </a:p>
        </p:txBody>
      </p:sp>
      <p:sp>
        <p:nvSpPr>
          <p:cNvPr id="54" name="Google Shape;54;p2"/>
          <p:cNvSpPr/>
          <p:nvPr/>
        </p:nvSpPr>
        <p:spPr>
          <a:xfrm>
            <a:off x="1016000" y="4945063"/>
            <a:ext cx="3069641"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Old design · 23,527 clients</a:t>
            </a:r>
            <a:endParaRPr b="0" i="0" sz="1400" u="none" cap="none" strike="noStrike">
              <a:solidFill>
                <a:schemeClr val="dk1"/>
              </a:solidFill>
              <a:latin typeface="IBM Plex Sans"/>
              <a:ea typeface="IBM Plex Sans"/>
              <a:cs typeface="IBM Plex Sans"/>
              <a:sym typeface="IBM Plex Sans"/>
            </a:endParaRPr>
          </a:p>
        </p:txBody>
      </p:sp>
      <p:sp>
        <p:nvSpPr>
          <p:cNvPr id="55" name="Google Shape;55;p2"/>
          <p:cNvSpPr/>
          <p:nvPr/>
        </p:nvSpPr>
        <p:spPr>
          <a:xfrm>
            <a:off x="4402634" y="4396482"/>
            <a:ext cx="3386733" cy="1249462"/>
          </a:xfrm>
          <a:prstGeom prst="roundRect">
            <a:avLst>
              <a:gd fmla="val 6099" name="adj"/>
            </a:avLst>
          </a:prstGeom>
          <a:solidFill>
            <a:srgbClr val="FFF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2"/>
          <p:cNvSpPr/>
          <p:nvPr/>
        </p:nvSpPr>
        <p:spPr>
          <a:xfrm>
            <a:off x="4402634" y="4396482"/>
            <a:ext cx="3386733" cy="1249462"/>
          </a:xfrm>
          <a:custGeom>
            <a:rect b="b" l="l" r="r" t="t"/>
            <a:pathLst>
              <a:path extrusionOk="0" h="1249462" w="3386733">
                <a:moveTo>
                  <a:pt x="0" y="76200"/>
                </a:moveTo>
                <a:lnTo>
                  <a:pt x="0" y="76200"/>
                </a:lnTo>
                <a:cubicBezTo>
                  <a:pt x="0" y="34116"/>
                  <a:pt x="34116" y="0"/>
                  <a:pt x="76200" y="0"/>
                </a:cubicBezTo>
                <a:lnTo>
                  <a:pt x="3310533" y="0"/>
                </a:lnTo>
                <a:cubicBezTo>
                  <a:pt x="3330742" y="0"/>
                  <a:pt x="3350124" y="8028"/>
                  <a:pt x="3364415" y="22318"/>
                </a:cubicBezTo>
                <a:cubicBezTo>
                  <a:pt x="3378705" y="36609"/>
                  <a:pt x="3386733" y="55991"/>
                  <a:pt x="3386733" y="76200"/>
                </a:cubicBezTo>
                <a:lnTo>
                  <a:pt x="3386733" y="76200"/>
                </a:lnTo>
                <a:cubicBezTo>
                  <a:pt x="3386733" y="62172"/>
                  <a:pt x="3352617" y="50800"/>
                  <a:pt x="3310533" y="50800"/>
                </a:cubicBezTo>
                <a:lnTo>
                  <a:pt x="76200" y="50800"/>
                </a:lnTo>
                <a:cubicBezTo>
                  <a:pt x="34116" y="50800"/>
                  <a:pt x="0" y="62172"/>
                  <a:pt x="0" y="76200"/>
                </a:cubicBezTo>
                <a:close/>
              </a:path>
            </a:pathLst>
          </a:custGeom>
          <a:solidFill>
            <a:srgbClr val="D97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2"/>
          <p:cNvSpPr/>
          <p:nvPr/>
        </p:nvSpPr>
        <p:spPr>
          <a:xfrm>
            <a:off x="4605834" y="4650482"/>
            <a:ext cx="3069743" cy="2691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B4561A"/>
              </a:buClr>
              <a:buSzPts val="1600"/>
              <a:buFont typeface="IBM Plex Sans"/>
              <a:buNone/>
            </a:pPr>
            <a:r>
              <a:rPr b="1" i="0" lang="en-US" sz="1600" u="none" cap="none" strike="noStrike">
                <a:solidFill>
                  <a:srgbClr val="B4561A"/>
                </a:solidFill>
                <a:latin typeface="IBM Plex Sans"/>
                <a:ea typeface="IBM Plex Sans"/>
                <a:cs typeface="IBM Plex Sans"/>
                <a:sym typeface="IBM Plex Sans"/>
              </a:rPr>
              <a:t>Test</a:t>
            </a:r>
            <a:endParaRPr b="0" i="0" sz="1600" u="none" cap="none" strike="noStrike">
              <a:solidFill>
                <a:schemeClr val="dk1"/>
              </a:solidFill>
              <a:latin typeface="IBM Plex Sans"/>
              <a:ea typeface="IBM Plex Sans"/>
              <a:cs typeface="IBM Plex Sans"/>
              <a:sym typeface="IBM Plex Sans"/>
            </a:endParaRPr>
          </a:p>
        </p:txBody>
      </p:sp>
      <p:sp>
        <p:nvSpPr>
          <p:cNvPr id="58" name="Google Shape;58;p2"/>
          <p:cNvSpPr/>
          <p:nvPr/>
        </p:nvSpPr>
        <p:spPr>
          <a:xfrm>
            <a:off x="4605834" y="4945063"/>
            <a:ext cx="3069743"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New design · 26,961 clients</a:t>
            </a:r>
            <a:endParaRPr b="0" i="0" sz="1400" u="none" cap="none" strike="noStrike">
              <a:solidFill>
                <a:schemeClr val="dk1"/>
              </a:solidFill>
              <a:latin typeface="IBM Plex Sans"/>
              <a:ea typeface="IBM Plex Sans"/>
              <a:cs typeface="IBM Plex Sans"/>
              <a:sym typeface="IBM Plex Sans"/>
            </a:endParaRPr>
          </a:p>
        </p:txBody>
      </p:sp>
      <p:sp>
        <p:nvSpPr>
          <p:cNvPr id="59" name="Google Shape;59;p2"/>
          <p:cNvSpPr/>
          <p:nvPr/>
        </p:nvSpPr>
        <p:spPr>
          <a:xfrm>
            <a:off x="7992566" y="4396482"/>
            <a:ext cx="3386634" cy="1249462"/>
          </a:xfrm>
          <a:prstGeom prst="roundRect">
            <a:avLst>
              <a:gd fmla="val 6099" name="adj"/>
            </a:avLst>
          </a:prstGeom>
          <a:solidFill>
            <a:srgbClr val="FFF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
          <p:cNvSpPr/>
          <p:nvPr/>
        </p:nvSpPr>
        <p:spPr>
          <a:xfrm>
            <a:off x="7992566" y="4396482"/>
            <a:ext cx="3386634" cy="1249462"/>
          </a:xfrm>
          <a:custGeom>
            <a:rect b="b" l="l" r="r" t="t"/>
            <a:pathLst>
              <a:path extrusionOk="0" h="1249462" w="3386634">
                <a:moveTo>
                  <a:pt x="0" y="76200"/>
                </a:moveTo>
                <a:lnTo>
                  <a:pt x="0" y="76200"/>
                </a:lnTo>
                <a:cubicBezTo>
                  <a:pt x="0" y="34116"/>
                  <a:pt x="34116" y="0"/>
                  <a:pt x="76200" y="0"/>
                </a:cubicBezTo>
                <a:lnTo>
                  <a:pt x="3310434" y="0"/>
                </a:lnTo>
                <a:cubicBezTo>
                  <a:pt x="3330643" y="0"/>
                  <a:pt x="3350025" y="8028"/>
                  <a:pt x="3364316" y="22318"/>
                </a:cubicBezTo>
                <a:cubicBezTo>
                  <a:pt x="3378606" y="36609"/>
                  <a:pt x="3386634" y="55991"/>
                  <a:pt x="3386634" y="76200"/>
                </a:cubicBezTo>
                <a:lnTo>
                  <a:pt x="3386634" y="76200"/>
                </a:lnTo>
                <a:cubicBezTo>
                  <a:pt x="3386634" y="62172"/>
                  <a:pt x="3352518" y="50800"/>
                  <a:pt x="3310434" y="50800"/>
                </a:cubicBezTo>
                <a:lnTo>
                  <a:pt x="76200" y="50800"/>
                </a:lnTo>
                <a:cubicBezTo>
                  <a:pt x="34116" y="50800"/>
                  <a:pt x="0" y="62172"/>
                  <a:pt x="0" y="76200"/>
                </a:cubicBezTo>
                <a:close/>
              </a:path>
            </a:pathLst>
          </a:cu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2"/>
          <p:cNvSpPr/>
          <p:nvPr/>
        </p:nvSpPr>
        <p:spPr>
          <a:xfrm>
            <a:off x="8195766" y="4650482"/>
            <a:ext cx="3069641" cy="2691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600"/>
              <a:buFont typeface="IBM Plex Sans"/>
              <a:buNone/>
            </a:pPr>
            <a:r>
              <a:rPr b="1" i="0" lang="en-US" sz="1600" u="none" cap="none" strike="noStrike">
                <a:solidFill>
                  <a:srgbClr val="14213D"/>
                </a:solidFill>
                <a:latin typeface="IBM Plex Sans"/>
                <a:ea typeface="IBM Plex Sans"/>
                <a:cs typeface="IBM Plex Sans"/>
                <a:sym typeface="IBM Plex Sans"/>
              </a:rPr>
              <a:t>Data</a:t>
            </a:r>
            <a:endParaRPr b="0" i="0" sz="1600" u="none" cap="none" strike="noStrike">
              <a:solidFill>
                <a:schemeClr val="dk1"/>
              </a:solidFill>
              <a:latin typeface="IBM Plex Sans"/>
              <a:ea typeface="IBM Plex Sans"/>
              <a:cs typeface="IBM Plex Sans"/>
              <a:sym typeface="IBM Plex Sans"/>
            </a:endParaRPr>
          </a:p>
        </p:txBody>
      </p:sp>
      <p:sp>
        <p:nvSpPr>
          <p:cNvPr id="62" name="Google Shape;62;p2"/>
          <p:cNvSpPr/>
          <p:nvPr/>
        </p:nvSpPr>
        <p:spPr>
          <a:xfrm>
            <a:off x="8195766" y="4945063"/>
            <a:ext cx="3069641"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317,135 web events · 15 March – 20 June 2017</a:t>
            </a:r>
            <a:endParaRPr b="0" i="0" sz="1400" u="none" cap="none" strike="noStrike">
              <a:solidFill>
                <a:schemeClr val="dk1"/>
              </a:solidFill>
              <a:latin typeface="IBM Plex Sans"/>
              <a:ea typeface="IBM Plex Sans"/>
              <a:cs typeface="IBM Plex Sans"/>
              <a:sym typeface="IBM Plex Sans"/>
            </a:endParaRPr>
          </a:p>
        </p:txBody>
      </p:sp>
      <p:sp>
        <p:nvSpPr>
          <p:cNvPr id="63" name="Google Shape;63;p2"/>
          <p:cNvSpPr/>
          <p:nvPr/>
        </p:nvSpPr>
        <p:spPr>
          <a:xfrm>
            <a:off x="10893544" y="6236990"/>
            <a:ext cx="485656"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2 / 12</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68" name="Shape 68"/>
        <p:cNvGrpSpPr/>
        <p:nvPr/>
      </p:nvGrpSpPr>
      <p:grpSpPr>
        <a:xfrm>
          <a:off x="0" y="0"/>
          <a:ext cx="0" cy="0"/>
          <a:chOff x="0" y="0"/>
          <a:chExt cx="0" cy="0"/>
        </a:xfrm>
      </p:grpSpPr>
      <p:sp>
        <p:nvSpPr>
          <p:cNvPr id="69" name="Google Shape;69;p4"/>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61A"/>
              </a:buClr>
              <a:buSzPts val="1200"/>
              <a:buFont typeface="IBM Plex Sans"/>
              <a:buNone/>
            </a:pPr>
            <a:r>
              <a:rPr b="0" i="0" lang="en-US" sz="1200" u="none" cap="none" strike="noStrike">
                <a:solidFill>
                  <a:srgbClr val="B4561A"/>
                </a:solidFill>
                <a:latin typeface="IBM Plex Sans"/>
                <a:ea typeface="IBM Plex Sans"/>
                <a:cs typeface="IBM Plex Sans"/>
                <a:sym typeface="IBM Plex Sans"/>
              </a:rPr>
              <a:t>KPI 1 · COMPLETION RATE</a:t>
            </a:r>
            <a:endParaRPr b="0" i="0" sz="1200" u="none" cap="none" strike="noStrike">
              <a:solidFill>
                <a:schemeClr val="dk1"/>
              </a:solidFill>
              <a:latin typeface="IBM Plex Sans"/>
              <a:ea typeface="IBM Plex Sans"/>
              <a:cs typeface="IBM Plex Sans"/>
              <a:sym typeface="IBM Plex Sans"/>
            </a:endParaRPr>
          </a:p>
        </p:txBody>
      </p:sp>
      <p:sp>
        <p:nvSpPr>
          <p:cNvPr id="70" name="Google Shape;70;p4"/>
          <p:cNvSpPr txBox="1"/>
          <p:nvPr>
            <p:ph type="title"/>
          </p:nvPr>
        </p:nvSpPr>
        <p:spPr>
          <a:xfrm>
            <a:off x="812800" y="1076920"/>
            <a:ext cx="10883392"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More clients finish with the new design</a:t>
            </a:r>
            <a:endParaRPr sz="3200"/>
          </a:p>
        </p:txBody>
      </p:sp>
      <p:cxnSp>
        <p:nvCxnSpPr>
          <p:cNvPr id="71" name="Google Shape;71;p4"/>
          <p:cNvCxnSpPr/>
          <p:nvPr/>
        </p:nvCxnSpPr>
        <p:spPr>
          <a:xfrm>
            <a:off x="812800" y="4260552"/>
            <a:ext cx="5730280" cy="0"/>
          </a:xfrm>
          <a:prstGeom prst="straightConnector1">
            <a:avLst/>
          </a:prstGeom>
          <a:noFill/>
          <a:ln cap="flat" cmpd="sng" w="12700">
            <a:solidFill>
              <a:srgbClr val="9AA3B2"/>
            </a:solidFill>
            <a:prstDash val="solid"/>
            <a:round/>
            <a:headEnd len="sm" w="sm" type="none"/>
            <a:tailEnd len="sm" w="sm" type="none"/>
          </a:ln>
        </p:spPr>
      </p:cxnSp>
      <p:sp>
        <p:nvSpPr>
          <p:cNvPr id="72" name="Google Shape;72;p4"/>
          <p:cNvSpPr/>
          <p:nvPr/>
        </p:nvSpPr>
        <p:spPr>
          <a:xfrm>
            <a:off x="1589713" y="1970782"/>
            <a:ext cx="1412915" cy="5943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4213D"/>
              </a:buClr>
              <a:buSzPts val="3200"/>
              <a:buFont typeface="Source Serif 4"/>
              <a:buNone/>
            </a:pPr>
            <a:r>
              <a:rPr b="1" i="0" lang="en-US" sz="3200" u="none" cap="none" strike="noStrike">
                <a:solidFill>
                  <a:srgbClr val="14213D"/>
                </a:solidFill>
                <a:latin typeface="Source Serif 4"/>
                <a:ea typeface="Source Serif 4"/>
                <a:cs typeface="Source Serif 4"/>
                <a:sym typeface="Source Serif 4"/>
              </a:rPr>
              <a:t>65.6%</a:t>
            </a:r>
            <a:endParaRPr b="0" i="0" sz="3200" u="none" cap="none" strike="noStrike">
              <a:solidFill>
                <a:schemeClr val="dk1"/>
              </a:solidFill>
              <a:latin typeface="IBM Plex Sans"/>
              <a:ea typeface="IBM Plex Sans"/>
              <a:cs typeface="IBM Plex Sans"/>
              <a:sym typeface="IBM Plex Sans"/>
            </a:endParaRPr>
          </a:p>
        </p:txBody>
      </p:sp>
      <p:sp>
        <p:nvSpPr>
          <p:cNvPr id="73" name="Google Shape;73;p4"/>
          <p:cNvSpPr/>
          <p:nvPr/>
        </p:nvSpPr>
        <p:spPr>
          <a:xfrm>
            <a:off x="1117600" y="2590502"/>
            <a:ext cx="2357140" cy="1663700"/>
          </a:xfrm>
          <a:custGeom>
            <a:rect b="b" l="l" r="r" t="t"/>
            <a:pathLst>
              <a:path extrusionOk="0" h="1663700" w="2357140">
                <a:moveTo>
                  <a:pt x="50800" y="0"/>
                </a:moveTo>
                <a:lnTo>
                  <a:pt x="2306340" y="0"/>
                </a:lnTo>
                <a:cubicBezTo>
                  <a:pt x="2319813" y="0"/>
                  <a:pt x="2332734" y="5352"/>
                  <a:pt x="2342261" y="14879"/>
                </a:cubicBezTo>
                <a:cubicBezTo>
                  <a:pt x="2351788" y="24406"/>
                  <a:pt x="2357140" y="37327"/>
                  <a:pt x="2357140" y="50800"/>
                </a:cubicBezTo>
                <a:lnTo>
                  <a:pt x="2357140" y="1663700"/>
                </a:lnTo>
                <a:lnTo>
                  <a:pt x="0" y="1663700"/>
                </a:lnTo>
                <a:lnTo>
                  <a:pt x="0" y="50800"/>
                </a:lnTo>
                <a:cubicBezTo>
                  <a:pt x="0" y="22744"/>
                  <a:pt x="22744" y="0"/>
                  <a:pt x="50800" y="0"/>
                </a:cubicBezTo>
                <a:close/>
              </a:path>
            </a:pathLst>
          </a:custGeom>
          <a:solidFill>
            <a:srgbClr val="2F5D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4"/>
          <p:cNvSpPr/>
          <p:nvPr/>
        </p:nvSpPr>
        <p:spPr>
          <a:xfrm>
            <a:off x="4353252" y="1875532"/>
            <a:ext cx="1412915" cy="5943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14213D"/>
              </a:buClr>
              <a:buSzPts val="3200"/>
              <a:buFont typeface="Source Serif 4"/>
              <a:buNone/>
            </a:pPr>
            <a:r>
              <a:rPr b="1" i="0" lang="en-US" sz="3200" u="none" cap="none" strike="noStrike">
                <a:solidFill>
                  <a:srgbClr val="14213D"/>
                </a:solidFill>
                <a:latin typeface="Source Serif 4"/>
                <a:ea typeface="Source Serif 4"/>
                <a:cs typeface="Source Serif 4"/>
                <a:sym typeface="Source Serif 4"/>
              </a:rPr>
              <a:t>69.3%</a:t>
            </a:r>
            <a:endParaRPr b="0" i="0" sz="3200" u="none" cap="none" strike="noStrike">
              <a:solidFill>
                <a:schemeClr val="dk1"/>
              </a:solidFill>
              <a:latin typeface="IBM Plex Sans"/>
              <a:ea typeface="IBM Plex Sans"/>
              <a:cs typeface="IBM Plex Sans"/>
              <a:sym typeface="IBM Plex Sans"/>
            </a:endParaRPr>
          </a:p>
        </p:txBody>
      </p:sp>
      <p:sp>
        <p:nvSpPr>
          <p:cNvPr id="75" name="Google Shape;75;p4"/>
          <p:cNvSpPr/>
          <p:nvPr/>
        </p:nvSpPr>
        <p:spPr>
          <a:xfrm>
            <a:off x="3881140" y="2495252"/>
            <a:ext cx="2357140" cy="1758950"/>
          </a:xfrm>
          <a:custGeom>
            <a:rect b="b" l="l" r="r" t="t"/>
            <a:pathLst>
              <a:path extrusionOk="0" h="1758950" w="2357140">
                <a:moveTo>
                  <a:pt x="50800" y="0"/>
                </a:moveTo>
                <a:lnTo>
                  <a:pt x="2306340" y="0"/>
                </a:lnTo>
                <a:cubicBezTo>
                  <a:pt x="2319813" y="0"/>
                  <a:pt x="2332734" y="5352"/>
                  <a:pt x="2342261" y="14879"/>
                </a:cubicBezTo>
                <a:cubicBezTo>
                  <a:pt x="2351788" y="24406"/>
                  <a:pt x="2357140" y="37327"/>
                  <a:pt x="2357140" y="50800"/>
                </a:cubicBezTo>
                <a:lnTo>
                  <a:pt x="2357140" y="1758950"/>
                </a:lnTo>
                <a:lnTo>
                  <a:pt x="0" y="1758950"/>
                </a:lnTo>
                <a:lnTo>
                  <a:pt x="0" y="50800"/>
                </a:lnTo>
                <a:cubicBezTo>
                  <a:pt x="0" y="22744"/>
                  <a:pt x="22744" y="0"/>
                  <a:pt x="50800" y="0"/>
                </a:cubicBezTo>
                <a:close/>
              </a:path>
            </a:pathLst>
          </a:custGeom>
          <a:solidFill>
            <a:srgbClr val="D97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p:nvPr/>
        </p:nvSpPr>
        <p:spPr>
          <a:xfrm>
            <a:off x="1082243" y="4343102"/>
            <a:ext cx="2427854" cy="27424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2F5D9E"/>
              </a:buClr>
              <a:buSzPts val="1400"/>
              <a:buFont typeface="IBM Plex Sans"/>
              <a:buNone/>
            </a:pPr>
            <a:r>
              <a:rPr b="1" i="0" lang="en-US" sz="1400" u="none" cap="none" strike="noStrike">
                <a:solidFill>
                  <a:srgbClr val="2F5D9E"/>
                </a:solidFill>
                <a:latin typeface="IBM Plex Sans"/>
                <a:ea typeface="IBM Plex Sans"/>
                <a:cs typeface="IBM Plex Sans"/>
                <a:sym typeface="IBM Plex Sans"/>
              </a:rPr>
              <a:t>Control · old</a:t>
            </a:r>
            <a:endParaRPr b="0" i="0" sz="1400" u="none" cap="none" strike="noStrike">
              <a:solidFill>
                <a:schemeClr val="dk1"/>
              </a:solidFill>
              <a:latin typeface="IBM Plex Sans"/>
              <a:ea typeface="IBM Plex Sans"/>
              <a:cs typeface="IBM Plex Sans"/>
              <a:sym typeface="IBM Plex Sans"/>
            </a:endParaRPr>
          </a:p>
        </p:txBody>
      </p:sp>
      <p:sp>
        <p:nvSpPr>
          <p:cNvPr id="77" name="Google Shape;77;p4"/>
          <p:cNvSpPr/>
          <p:nvPr/>
        </p:nvSpPr>
        <p:spPr>
          <a:xfrm>
            <a:off x="3845783" y="4343102"/>
            <a:ext cx="2427854" cy="274241"/>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B4561A"/>
              </a:buClr>
              <a:buSzPts val="1400"/>
              <a:buFont typeface="IBM Plex Sans"/>
              <a:buNone/>
            </a:pPr>
            <a:r>
              <a:rPr b="1" i="0" lang="en-US" sz="1400" u="none" cap="none" strike="noStrike">
                <a:solidFill>
                  <a:srgbClr val="B4561A"/>
                </a:solidFill>
                <a:latin typeface="IBM Plex Sans"/>
                <a:ea typeface="IBM Plex Sans"/>
                <a:cs typeface="IBM Plex Sans"/>
                <a:sym typeface="IBM Plex Sans"/>
              </a:rPr>
              <a:t>Test · new</a:t>
            </a:r>
            <a:endParaRPr b="0" i="0" sz="1400" u="none" cap="none" strike="noStrike">
              <a:solidFill>
                <a:schemeClr val="dk1"/>
              </a:solidFill>
              <a:latin typeface="IBM Plex Sans"/>
              <a:ea typeface="IBM Plex Sans"/>
              <a:cs typeface="IBM Plex Sans"/>
              <a:sym typeface="IBM Plex Sans"/>
            </a:endParaRPr>
          </a:p>
        </p:txBody>
      </p:sp>
      <p:sp>
        <p:nvSpPr>
          <p:cNvPr id="78" name="Google Shape;78;p4"/>
          <p:cNvSpPr/>
          <p:nvPr/>
        </p:nvSpPr>
        <p:spPr>
          <a:xfrm>
            <a:off x="726846" y="4668143"/>
            <a:ext cx="5902188" cy="238720"/>
          </a:xfrm>
          <a:prstGeom prst="rect">
            <a:avLst/>
          </a:prstGeom>
          <a:noFill/>
          <a:ln>
            <a:noFill/>
          </a:ln>
        </p:spPr>
        <p:txBody>
          <a:bodyPr anchorCtr="0" anchor="t" bIns="0" lIns="0" spcFirstLastPara="1" rIns="0" wrap="square" tIns="0">
            <a:normAutofit/>
          </a:bodyPr>
          <a:lstStyle/>
          <a:p>
            <a:pPr indent="0" lvl="0" marL="0" marR="0" rtl="0" algn="ctr">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Share of clients who reached confirm · 15,429 of 23,527 vs 18,682 of 26,961</a:t>
            </a:r>
            <a:endParaRPr b="0" i="0" sz="1200" u="none" cap="none" strike="noStrike">
              <a:solidFill>
                <a:schemeClr val="dk1"/>
              </a:solidFill>
              <a:latin typeface="IBM Plex Sans"/>
              <a:ea typeface="IBM Plex Sans"/>
              <a:cs typeface="IBM Plex Sans"/>
              <a:sym typeface="IBM Plex Sans"/>
            </a:endParaRPr>
          </a:p>
        </p:txBody>
      </p:sp>
      <p:sp>
        <p:nvSpPr>
          <p:cNvPr id="79" name="Google Shape;79;p4"/>
          <p:cNvSpPr/>
          <p:nvPr/>
        </p:nvSpPr>
        <p:spPr>
          <a:xfrm>
            <a:off x="6949480" y="1849041"/>
            <a:ext cx="4429720" cy="3032423"/>
          </a:xfrm>
          <a:prstGeom prst="roundRect">
            <a:avLst>
              <a:gd fmla="val 2513"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4"/>
          <p:cNvSpPr/>
          <p:nvPr/>
        </p:nvSpPr>
        <p:spPr>
          <a:xfrm>
            <a:off x="7254280" y="2153841"/>
            <a:ext cx="3934724"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8A56B"/>
              </a:buClr>
              <a:buSzPts val="1600"/>
              <a:buFont typeface="IBM Plex Sans"/>
              <a:buNone/>
            </a:pPr>
            <a:r>
              <a:rPr b="1" i="0" lang="en-US" sz="1600" u="none" cap="none" strike="noStrike">
                <a:solidFill>
                  <a:srgbClr val="E8A56B"/>
                </a:solidFill>
                <a:latin typeface="IBM Plex Sans"/>
                <a:ea typeface="IBM Plex Sans"/>
                <a:cs typeface="IBM Plex Sans"/>
                <a:sym typeface="IBM Plex Sans"/>
              </a:rPr>
              <a:t>Difference</a:t>
            </a:r>
            <a:endParaRPr b="0" i="0" sz="1600" u="none" cap="none" strike="noStrike">
              <a:solidFill>
                <a:schemeClr val="dk1"/>
              </a:solidFill>
              <a:latin typeface="IBM Plex Sans"/>
              <a:ea typeface="IBM Plex Sans"/>
              <a:cs typeface="IBM Plex Sans"/>
              <a:sym typeface="IBM Plex Sans"/>
            </a:endParaRPr>
          </a:p>
        </p:txBody>
      </p:sp>
      <p:sp>
        <p:nvSpPr>
          <p:cNvPr id="81" name="Google Shape;81;p4"/>
          <p:cNvSpPr/>
          <p:nvPr/>
        </p:nvSpPr>
        <p:spPr>
          <a:xfrm>
            <a:off x="7254280" y="2514501"/>
            <a:ext cx="3934724" cy="86360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F7F5F0"/>
              </a:buClr>
              <a:buSzPts val="6000"/>
              <a:buFont typeface="Source Serif 4"/>
              <a:buNone/>
            </a:pPr>
            <a:r>
              <a:rPr b="1" i="0" lang="en-US" sz="6000" u="none" cap="none" strike="noStrike">
                <a:solidFill>
                  <a:srgbClr val="F7F5F0"/>
                </a:solidFill>
                <a:latin typeface="Source Serif 4"/>
                <a:ea typeface="Source Serif 4"/>
                <a:cs typeface="Source Serif 4"/>
                <a:sym typeface="Source Serif 4"/>
              </a:rPr>
              <a:t>+3.7</a:t>
            </a:r>
            <a:endParaRPr b="0" i="0" sz="6000" u="none" cap="none" strike="noStrike">
              <a:solidFill>
                <a:schemeClr val="dk1"/>
              </a:solidFill>
              <a:latin typeface="IBM Plex Sans"/>
              <a:ea typeface="IBM Plex Sans"/>
              <a:cs typeface="IBM Plex Sans"/>
              <a:sym typeface="IBM Plex Sans"/>
            </a:endParaRPr>
          </a:p>
        </p:txBody>
      </p:sp>
      <p:sp>
        <p:nvSpPr>
          <p:cNvPr id="82" name="Google Shape;82;p4"/>
          <p:cNvSpPr/>
          <p:nvPr/>
        </p:nvSpPr>
        <p:spPr>
          <a:xfrm>
            <a:off x="7254280" y="3428901"/>
            <a:ext cx="3934724"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E6"/>
              </a:buClr>
              <a:buSzPts val="1400"/>
              <a:buFont typeface="IBM Plex Sans"/>
              <a:buNone/>
            </a:pPr>
            <a:r>
              <a:rPr b="0" i="0" lang="en-US" sz="1400" u="none" cap="none" strike="noStrike">
                <a:solidFill>
                  <a:srgbClr val="C9D3E6"/>
                </a:solidFill>
                <a:latin typeface="IBM Plex Sans"/>
                <a:ea typeface="IBM Plex Sans"/>
                <a:cs typeface="IBM Plex Sans"/>
                <a:sym typeface="IBM Plex Sans"/>
              </a:rPr>
              <a:t>percentage points</a:t>
            </a:r>
            <a:endParaRPr b="0" i="0" sz="1400" u="none" cap="none" strike="noStrike">
              <a:solidFill>
                <a:schemeClr val="dk1"/>
              </a:solidFill>
              <a:latin typeface="IBM Plex Sans"/>
              <a:ea typeface="IBM Plex Sans"/>
              <a:cs typeface="IBM Plex Sans"/>
              <a:sym typeface="IBM Plex Sans"/>
            </a:endParaRPr>
          </a:p>
        </p:txBody>
      </p:sp>
      <p:sp>
        <p:nvSpPr>
          <p:cNvPr id="83" name="Google Shape;83;p4"/>
          <p:cNvSpPr/>
          <p:nvPr/>
        </p:nvSpPr>
        <p:spPr>
          <a:xfrm>
            <a:off x="7254280" y="3753941"/>
            <a:ext cx="3934724"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F7F5F0"/>
              </a:buClr>
              <a:buSzPts val="1400"/>
              <a:buFont typeface="IBM Plex Sans"/>
              <a:buNone/>
            </a:pPr>
            <a:r>
              <a:rPr b="1" i="0" lang="en-US" sz="1400" u="none" cap="none" strike="noStrike">
                <a:solidFill>
                  <a:srgbClr val="F7F5F0"/>
                </a:solidFill>
                <a:latin typeface="IBM Plex Sans"/>
                <a:ea typeface="IBM Plex Sans"/>
                <a:cs typeface="IBM Plex Sans"/>
                <a:sym typeface="IBM Plex Sans"/>
              </a:rPr>
              <a:t>≈ 1,000 more clients</a:t>
            </a:r>
            <a:r>
              <a:rPr b="0" i="0" lang="en-US" sz="1400" u="none" cap="none" strike="noStrike">
                <a:solidFill>
                  <a:srgbClr val="F7F5F0"/>
                </a:solidFill>
                <a:latin typeface="IBM Plex Sans"/>
                <a:ea typeface="IBM Plex Sans"/>
                <a:cs typeface="IBM Plex Sans"/>
                <a:sym typeface="IBM Plex Sans"/>
              </a:rPr>
              <a:t> finished in 3 months</a:t>
            </a:r>
            <a:endParaRPr b="0" i="0" sz="1400" u="none" cap="none" strike="noStrike">
              <a:solidFill>
                <a:schemeClr val="dk1"/>
              </a:solidFill>
              <a:latin typeface="IBM Plex Sans"/>
              <a:ea typeface="IBM Plex Sans"/>
              <a:cs typeface="IBM Plex Sans"/>
              <a:sym typeface="IBM Plex Sans"/>
            </a:endParaRPr>
          </a:p>
        </p:txBody>
      </p:sp>
      <p:sp>
        <p:nvSpPr>
          <p:cNvPr id="84" name="Google Shape;84;p4"/>
          <p:cNvSpPr/>
          <p:nvPr/>
        </p:nvSpPr>
        <p:spPr>
          <a:xfrm>
            <a:off x="7254280" y="4078982"/>
            <a:ext cx="3934724"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E6"/>
              </a:buClr>
              <a:buSzPts val="1400"/>
              <a:buFont typeface="IBM Plex Sans"/>
              <a:buNone/>
            </a:pPr>
            <a:r>
              <a:rPr b="0" i="0" lang="en-US" sz="1400" u="none" cap="none" strike="noStrike">
                <a:solidFill>
                  <a:srgbClr val="C9D3E6"/>
                </a:solidFill>
                <a:latin typeface="IBM Plex Sans"/>
                <a:ea typeface="IBM Plex Sans"/>
                <a:cs typeface="IBM Plex Sans"/>
                <a:sym typeface="IBM Plex Sans"/>
              </a:rPr>
              <a:t>Statistically significant: the difference is real, not chance</a:t>
            </a:r>
            <a:endParaRPr b="0" i="0" sz="1400" u="none" cap="none" strike="noStrike">
              <a:solidFill>
                <a:schemeClr val="dk1"/>
              </a:solidFill>
              <a:latin typeface="IBM Plex Sans"/>
              <a:ea typeface="IBM Plex Sans"/>
              <a:cs typeface="IBM Plex Sans"/>
              <a:sym typeface="IBM Plex Sans"/>
            </a:endParaRPr>
          </a:p>
        </p:txBody>
      </p:sp>
      <p:sp>
        <p:nvSpPr>
          <p:cNvPr id="85" name="Google Shape;85;p4"/>
          <p:cNvSpPr/>
          <p:nvPr/>
        </p:nvSpPr>
        <p:spPr>
          <a:xfrm>
            <a:off x="10893544" y="6236990"/>
            <a:ext cx="485656"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68"/>
              </a:buClr>
              <a:buSzPts val="1200"/>
              <a:buFont typeface="IBM Plex Sans"/>
              <a:buNone/>
            </a:pPr>
            <a:r>
              <a:rPr lang="en-US" sz="1200">
                <a:solidFill>
                  <a:srgbClr val="4A5568"/>
                </a:solidFill>
                <a:latin typeface="IBM Plex Sans"/>
                <a:ea typeface="IBM Plex Sans"/>
                <a:cs typeface="IBM Plex Sans"/>
                <a:sym typeface="IBM Plex Sans"/>
              </a:rPr>
              <a:t>3</a:t>
            </a:r>
            <a:r>
              <a:rPr b="0" i="0" lang="en-US" sz="1200" u="none" cap="none" strike="noStrike">
                <a:solidFill>
                  <a:srgbClr val="4A5568"/>
                </a:solidFill>
                <a:latin typeface="IBM Plex Sans"/>
                <a:ea typeface="IBM Plex Sans"/>
                <a:cs typeface="IBM Plex Sans"/>
                <a:sym typeface="IBM Plex Sans"/>
              </a:rPr>
              <a:t> / 12</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90" name="Shape 90"/>
        <p:cNvGrpSpPr/>
        <p:nvPr/>
      </p:nvGrpSpPr>
      <p:grpSpPr>
        <a:xfrm>
          <a:off x="0" y="0"/>
          <a:ext cx="0" cy="0"/>
          <a:chOff x="0" y="0"/>
          <a:chExt cx="0" cy="0"/>
        </a:xfrm>
      </p:grpSpPr>
      <p:sp>
        <p:nvSpPr>
          <p:cNvPr id="91" name="Google Shape;91;p3"/>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61A"/>
              </a:buClr>
              <a:buSzPts val="1200"/>
              <a:buFont typeface="IBM Plex Sans"/>
              <a:buNone/>
            </a:pPr>
            <a:r>
              <a:rPr b="0" i="0" lang="en-US" sz="1200" u="none" cap="none" strike="noStrike">
                <a:solidFill>
                  <a:srgbClr val="B4561A"/>
                </a:solidFill>
                <a:latin typeface="IBM Plex Sans"/>
                <a:ea typeface="IBM Plex Sans"/>
                <a:cs typeface="IBM Plex Sans"/>
                <a:sym typeface="IBM Plex Sans"/>
              </a:rPr>
              <a:t>WHO ARE THE CLIENTS?</a:t>
            </a:r>
            <a:endParaRPr b="0" i="0" sz="1200" u="none" cap="none" strike="noStrike">
              <a:solidFill>
                <a:schemeClr val="dk1"/>
              </a:solidFill>
              <a:latin typeface="IBM Plex Sans"/>
              <a:ea typeface="IBM Plex Sans"/>
              <a:cs typeface="IBM Plex Sans"/>
              <a:sym typeface="IBM Plex Sans"/>
            </a:endParaRPr>
          </a:p>
        </p:txBody>
      </p:sp>
      <p:sp>
        <p:nvSpPr>
          <p:cNvPr id="92" name="Google Shape;92;p3"/>
          <p:cNvSpPr txBox="1"/>
          <p:nvPr>
            <p:ph type="title"/>
          </p:nvPr>
        </p:nvSpPr>
        <p:spPr>
          <a:xfrm>
            <a:off x="812800" y="1076920"/>
            <a:ext cx="10883392"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Middle-aged, loyal clients who use the website</a:t>
            </a:r>
            <a:endParaRPr sz="3200"/>
          </a:p>
        </p:txBody>
      </p:sp>
      <p:sp>
        <p:nvSpPr>
          <p:cNvPr id="93" name="Google Shape;93;p3"/>
          <p:cNvSpPr/>
          <p:nvPr/>
        </p:nvSpPr>
        <p:spPr>
          <a:xfrm>
            <a:off x="812800" y="1849041"/>
            <a:ext cx="6341628" cy="2691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600"/>
              <a:buFont typeface="IBM Plex Sans"/>
              <a:buNone/>
            </a:pPr>
            <a:r>
              <a:rPr b="1" i="0" lang="en-US" sz="1600" u="none" cap="none" strike="noStrike">
                <a:solidFill>
                  <a:srgbClr val="14213D"/>
                </a:solidFill>
                <a:latin typeface="IBM Plex Sans"/>
                <a:ea typeface="IBM Plex Sans"/>
                <a:cs typeface="IBM Plex Sans"/>
                <a:sym typeface="IBM Plex Sans"/>
              </a:rPr>
              <a:t>Clients by age group · average age 47</a:t>
            </a:r>
            <a:endParaRPr b="0" i="0" sz="1600" u="none" cap="none" strike="noStrike">
              <a:solidFill>
                <a:schemeClr val="dk1"/>
              </a:solidFill>
              <a:latin typeface="IBM Plex Sans"/>
              <a:ea typeface="IBM Plex Sans"/>
              <a:cs typeface="IBM Plex Sans"/>
              <a:sym typeface="IBM Plex Sans"/>
            </a:endParaRPr>
          </a:p>
        </p:txBody>
      </p:sp>
      <p:sp>
        <p:nvSpPr>
          <p:cNvPr id="94" name="Google Shape;94;p3"/>
          <p:cNvSpPr/>
          <p:nvPr/>
        </p:nvSpPr>
        <p:spPr>
          <a:xfrm>
            <a:off x="812800" y="2285901"/>
            <a:ext cx="100330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400"/>
              <a:buFont typeface="IBM Plex Sans"/>
              <a:buNone/>
            </a:pPr>
            <a:r>
              <a:rPr b="0" i="0" lang="en-US" sz="1400" u="none" cap="none" strike="noStrike">
                <a:solidFill>
                  <a:srgbClr val="1F2A44"/>
                </a:solidFill>
                <a:latin typeface="IBM Plex Sans"/>
                <a:ea typeface="IBM Plex Sans"/>
                <a:cs typeface="IBM Plex Sans"/>
                <a:sym typeface="IBM Plex Sans"/>
              </a:rPr>
              <a:t>Under 35</a:t>
            </a:r>
            <a:endParaRPr b="0" i="0" sz="1400" u="none" cap="none" strike="noStrike">
              <a:solidFill>
                <a:schemeClr val="dk1"/>
              </a:solidFill>
              <a:latin typeface="IBM Plex Sans"/>
              <a:ea typeface="IBM Plex Sans"/>
              <a:cs typeface="IBM Plex Sans"/>
              <a:sym typeface="IBM Plex Sans"/>
            </a:endParaRPr>
          </a:p>
        </p:txBody>
      </p:sp>
      <p:sp>
        <p:nvSpPr>
          <p:cNvPr id="95" name="Google Shape;95;p3"/>
          <p:cNvSpPr/>
          <p:nvPr/>
        </p:nvSpPr>
        <p:spPr>
          <a:xfrm>
            <a:off x="1892300" y="2245221"/>
            <a:ext cx="3155950" cy="330200"/>
          </a:xfrm>
          <a:prstGeom prst="roundRect">
            <a:avLst>
              <a:gd fmla="val 11538" name="adj"/>
            </a:avLst>
          </a:prstGeom>
          <a:solidFill>
            <a:srgbClr val="9FB4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3"/>
          <p:cNvSpPr/>
          <p:nvPr/>
        </p:nvSpPr>
        <p:spPr>
          <a:xfrm>
            <a:off x="5175250" y="2285901"/>
            <a:ext cx="652701"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400"/>
              <a:buFont typeface="IBM Plex Sans"/>
              <a:buNone/>
            </a:pPr>
            <a:r>
              <a:rPr b="1" i="0" lang="en-US" sz="1400" u="none" cap="none" strike="noStrike">
                <a:solidFill>
                  <a:srgbClr val="1F2A44"/>
                </a:solidFill>
                <a:latin typeface="IBM Plex Sans"/>
                <a:ea typeface="IBM Plex Sans"/>
                <a:cs typeface="IBM Plex Sans"/>
                <a:sym typeface="IBM Plex Sans"/>
              </a:rPr>
              <a:t>27.5%</a:t>
            </a:r>
            <a:endParaRPr b="0" i="0" sz="1400" u="none" cap="none" strike="noStrike">
              <a:solidFill>
                <a:schemeClr val="dk1"/>
              </a:solidFill>
              <a:latin typeface="IBM Plex Sans"/>
              <a:ea typeface="IBM Plex Sans"/>
              <a:cs typeface="IBM Plex Sans"/>
              <a:sym typeface="IBM Plex Sans"/>
            </a:endParaRPr>
          </a:p>
        </p:txBody>
      </p:sp>
      <p:sp>
        <p:nvSpPr>
          <p:cNvPr id="97" name="Google Shape;97;p3"/>
          <p:cNvSpPr/>
          <p:nvPr/>
        </p:nvSpPr>
        <p:spPr>
          <a:xfrm>
            <a:off x="812800" y="2768501"/>
            <a:ext cx="100330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400"/>
              <a:buFont typeface="IBM Plex Sans"/>
              <a:buNone/>
            </a:pPr>
            <a:r>
              <a:rPr b="0" i="0" lang="en-US" sz="1400" u="none" cap="none" strike="noStrike">
                <a:solidFill>
                  <a:srgbClr val="1F2A44"/>
                </a:solidFill>
                <a:latin typeface="IBM Plex Sans"/>
                <a:ea typeface="IBM Plex Sans"/>
                <a:cs typeface="IBM Plex Sans"/>
                <a:sym typeface="IBM Plex Sans"/>
              </a:rPr>
              <a:t>35–49</a:t>
            </a:r>
            <a:endParaRPr b="0" i="0" sz="1400" u="none" cap="none" strike="noStrike">
              <a:solidFill>
                <a:schemeClr val="dk1"/>
              </a:solidFill>
              <a:latin typeface="IBM Plex Sans"/>
              <a:ea typeface="IBM Plex Sans"/>
              <a:cs typeface="IBM Plex Sans"/>
              <a:sym typeface="IBM Plex Sans"/>
            </a:endParaRPr>
          </a:p>
        </p:txBody>
      </p:sp>
      <p:sp>
        <p:nvSpPr>
          <p:cNvPr id="98" name="Google Shape;98;p3"/>
          <p:cNvSpPr/>
          <p:nvPr/>
        </p:nvSpPr>
        <p:spPr>
          <a:xfrm>
            <a:off x="1892300" y="2727821"/>
            <a:ext cx="2946400" cy="330200"/>
          </a:xfrm>
          <a:prstGeom prst="roundRect">
            <a:avLst>
              <a:gd fmla="val 11538" name="adj"/>
            </a:avLst>
          </a:prstGeom>
          <a:solidFill>
            <a:srgbClr val="9FB4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
          <p:cNvSpPr/>
          <p:nvPr/>
        </p:nvSpPr>
        <p:spPr>
          <a:xfrm>
            <a:off x="4965700" y="2768501"/>
            <a:ext cx="652701"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400"/>
              <a:buFont typeface="IBM Plex Sans"/>
              <a:buNone/>
            </a:pPr>
            <a:r>
              <a:rPr b="1" i="0" lang="en-US" sz="1400" u="none" cap="none" strike="noStrike">
                <a:solidFill>
                  <a:srgbClr val="1F2A44"/>
                </a:solidFill>
                <a:latin typeface="IBM Plex Sans"/>
                <a:ea typeface="IBM Plex Sans"/>
                <a:cs typeface="IBM Plex Sans"/>
                <a:sym typeface="IBM Plex Sans"/>
              </a:rPr>
              <a:t>25.7%</a:t>
            </a:r>
            <a:endParaRPr b="0" i="0" sz="1400" u="none" cap="none" strike="noStrike">
              <a:solidFill>
                <a:schemeClr val="dk1"/>
              </a:solidFill>
              <a:latin typeface="IBM Plex Sans"/>
              <a:ea typeface="IBM Plex Sans"/>
              <a:cs typeface="IBM Plex Sans"/>
              <a:sym typeface="IBM Plex Sans"/>
            </a:endParaRPr>
          </a:p>
        </p:txBody>
      </p:sp>
      <p:sp>
        <p:nvSpPr>
          <p:cNvPr id="100" name="Google Shape;100;p3"/>
          <p:cNvSpPr/>
          <p:nvPr/>
        </p:nvSpPr>
        <p:spPr>
          <a:xfrm>
            <a:off x="812800" y="3251101"/>
            <a:ext cx="100330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400"/>
              <a:buFont typeface="IBM Plex Sans"/>
              <a:buNone/>
            </a:pPr>
            <a:r>
              <a:rPr b="1" i="0" lang="en-US" sz="1400" u="none" cap="none" strike="noStrike">
                <a:solidFill>
                  <a:srgbClr val="14213D"/>
                </a:solidFill>
                <a:latin typeface="IBM Plex Sans"/>
                <a:ea typeface="IBM Plex Sans"/>
                <a:cs typeface="IBM Plex Sans"/>
                <a:sym typeface="IBM Plex Sans"/>
              </a:rPr>
              <a:t>50–64</a:t>
            </a:r>
            <a:endParaRPr b="0" i="0" sz="1400" u="none" cap="none" strike="noStrike">
              <a:solidFill>
                <a:schemeClr val="dk1"/>
              </a:solidFill>
              <a:latin typeface="IBM Plex Sans"/>
              <a:ea typeface="IBM Plex Sans"/>
              <a:cs typeface="IBM Plex Sans"/>
              <a:sym typeface="IBM Plex Sans"/>
            </a:endParaRPr>
          </a:p>
        </p:txBody>
      </p:sp>
      <p:sp>
        <p:nvSpPr>
          <p:cNvPr id="101" name="Google Shape;101;p3"/>
          <p:cNvSpPr/>
          <p:nvPr/>
        </p:nvSpPr>
        <p:spPr>
          <a:xfrm>
            <a:off x="1892300" y="3210421"/>
            <a:ext cx="3683000" cy="330200"/>
          </a:xfrm>
          <a:prstGeom prst="roundRect">
            <a:avLst>
              <a:gd fmla="val 11538" name="adj"/>
            </a:avLst>
          </a:prstGeom>
          <a:solidFill>
            <a:srgbClr val="2F5D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a:off x="5702300" y="3251101"/>
            <a:ext cx="652701"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400"/>
              <a:buFont typeface="IBM Plex Sans"/>
              <a:buNone/>
            </a:pPr>
            <a:r>
              <a:rPr b="1" i="0" lang="en-US" sz="1400" u="none" cap="none" strike="noStrike">
                <a:solidFill>
                  <a:srgbClr val="14213D"/>
                </a:solidFill>
                <a:latin typeface="IBM Plex Sans"/>
                <a:ea typeface="IBM Plex Sans"/>
                <a:cs typeface="IBM Plex Sans"/>
                <a:sym typeface="IBM Plex Sans"/>
              </a:rPr>
              <a:t>32.1%</a:t>
            </a:r>
            <a:endParaRPr b="0" i="0" sz="1400" u="none" cap="none" strike="noStrike">
              <a:solidFill>
                <a:schemeClr val="dk1"/>
              </a:solidFill>
              <a:latin typeface="IBM Plex Sans"/>
              <a:ea typeface="IBM Plex Sans"/>
              <a:cs typeface="IBM Plex Sans"/>
              <a:sym typeface="IBM Plex Sans"/>
            </a:endParaRPr>
          </a:p>
        </p:txBody>
      </p:sp>
      <p:sp>
        <p:nvSpPr>
          <p:cNvPr id="103" name="Google Shape;103;p3"/>
          <p:cNvSpPr/>
          <p:nvPr/>
        </p:nvSpPr>
        <p:spPr>
          <a:xfrm>
            <a:off x="812800" y="3733701"/>
            <a:ext cx="1003300"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400"/>
              <a:buFont typeface="IBM Plex Sans"/>
              <a:buNone/>
            </a:pPr>
            <a:r>
              <a:rPr b="0" i="0" lang="en-US" sz="1400" u="none" cap="none" strike="noStrike">
                <a:solidFill>
                  <a:srgbClr val="1F2A44"/>
                </a:solidFill>
                <a:latin typeface="IBM Plex Sans"/>
                <a:ea typeface="IBM Plex Sans"/>
                <a:cs typeface="IBM Plex Sans"/>
                <a:sym typeface="IBM Plex Sans"/>
              </a:rPr>
              <a:t>65+</a:t>
            </a:r>
            <a:endParaRPr b="0" i="0" sz="1400" u="none" cap="none" strike="noStrike">
              <a:solidFill>
                <a:schemeClr val="dk1"/>
              </a:solidFill>
              <a:latin typeface="IBM Plex Sans"/>
              <a:ea typeface="IBM Plex Sans"/>
              <a:cs typeface="IBM Plex Sans"/>
              <a:sym typeface="IBM Plex Sans"/>
            </a:endParaRPr>
          </a:p>
        </p:txBody>
      </p:sp>
      <p:sp>
        <p:nvSpPr>
          <p:cNvPr id="104" name="Google Shape;104;p3"/>
          <p:cNvSpPr/>
          <p:nvPr/>
        </p:nvSpPr>
        <p:spPr>
          <a:xfrm>
            <a:off x="1892300" y="3693021"/>
            <a:ext cx="1689100" cy="330200"/>
          </a:xfrm>
          <a:prstGeom prst="roundRect">
            <a:avLst>
              <a:gd fmla="val 11538" name="adj"/>
            </a:avLst>
          </a:prstGeom>
          <a:solidFill>
            <a:srgbClr val="9FB4D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3708400" y="3733701"/>
            <a:ext cx="652701"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400"/>
              <a:buFont typeface="IBM Plex Sans"/>
              <a:buNone/>
            </a:pPr>
            <a:r>
              <a:rPr b="1" i="0" lang="en-US" sz="1400" u="none" cap="none" strike="noStrike">
                <a:solidFill>
                  <a:srgbClr val="1F2A44"/>
                </a:solidFill>
                <a:latin typeface="IBM Plex Sans"/>
                <a:ea typeface="IBM Plex Sans"/>
                <a:cs typeface="IBM Plex Sans"/>
                <a:sym typeface="IBM Plex Sans"/>
              </a:rPr>
              <a:t>14.7%</a:t>
            </a:r>
            <a:endParaRPr b="0" i="0" sz="1400" u="none" cap="none" strike="noStrike">
              <a:solidFill>
                <a:schemeClr val="dk1"/>
              </a:solidFill>
              <a:latin typeface="IBM Plex Sans"/>
              <a:ea typeface="IBM Plex Sans"/>
              <a:cs typeface="IBM Plex Sans"/>
              <a:sym typeface="IBM Plex Sans"/>
            </a:endParaRPr>
          </a:p>
        </p:txBody>
      </p:sp>
      <p:sp>
        <p:nvSpPr>
          <p:cNvPr id="106" name="Google Shape;106;p3"/>
          <p:cNvSpPr/>
          <p:nvPr/>
        </p:nvSpPr>
        <p:spPr>
          <a:xfrm>
            <a:off x="812800" y="4175621"/>
            <a:ext cx="6341628" cy="4520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Gender is split about evenly (a third unknown). Typical client: 6 logons and 3 calls in 6 months.</a:t>
            </a:r>
            <a:endParaRPr b="0" i="0" sz="1200" u="none" cap="none" strike="noStrike">
              <a:solidFill>
                <a:schemeClr val="dk1"/>
              </a:solidFill>
              <a:latin typeface="IBM Plex Sans"/>
              <a:ea typeface="IBM Plex Sans"/>
              <a:cs typeface="IBM Plex Sans"/>
              <a:sym typeface="IBM Plex Sans"/>
            </a:endParaRPr>
          </a:p>
        </p:txBody>
      </p:sp>
      <p:sp>
        <p:nvSpPr>
          <p:cNvPr id="107" name="Google Shape;107;p3"/>
          <p:cNvSpPr/>
          <p:nvPr/>
        </p:nvSpPr>
        <p:spPr>
          <a:xfrm>
            <a:off x="7274520" y="1849041"/>
            <a:ext cx="4104680" cy="1041301"/>
          </a:xfrm>
          <a:prstGeom prst="roundRect">
            <a:avLst>
              <a:gd fmla="val 7318" name="adj"/>
            </a:avLst>
          </a:prstGeom>
          <a:solidFill>
            <a:srgbClr val="FFF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7503120" y="2026841"/>
            <a:ext cx="3756904" cy="47238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4213D"/>
              </a:buClr>
              <a:buSzPts val="3200"/>
              <a:buFont typeface="Source Serif 4"/>
              <a:buNone/>
            </a:pPr>
            <a:r>
              <a:rPr b="1" lang="en-US" sz="3200">
                <a:solidFill>
                  <a:srgbClr val="14213D"/>
                </a:solidFill>
                <a:latin typeface="Source Serif 4"/>
                <a:ea typeface="Source Serif 4"/>
                <a:cs typeface="Source Serif 4"/>
                <a:sym typeface="Source Serif 4"/>
              </a:rPr>
              <a:t>11 - </a:t>
            </a:r>
            <a:r>
              <a:rPr b="1" i="0" lang="en-US" sz="3200" u="none" cap="none" strike="noStrike">
                <a:solidFill>
                  <a:srgbClr val="14213D"/>
                </a:solidFill>
                <a:latin typeface="Source Serif 4"/>
                <a:ea typeface="Source Serif 4"/>
                <a:cs typeface="Source Serif 4"/>
                <a:sym typeface="Source Serif 4"/>
              </a:rPr>
              <a:t>12 years</a:t>
            </a:r>
            <a:endParaRPr b="0" i="0" sz="3200" u="none" cap="none" strike="noStrike">
              <a:solidFill>
                <a:schemeClr val="dk1"/>
              </a:solidFill>
              <a:latin typeface="IBM Plex Sans"/>
              <a:ea typeface="IBM Plex Sans"/>
              <a:cs typeface="IBM Plex Sans"/>
              <a:sym typeface="IBM Plex Sans"/>
            </a:endParaRPr>
          </a:p>
        </p:txBody>
      </p:sp>
      <p:sp>
        <p:nvSpPr>
          <p:cNvPr id="109" name="Google Shape;109;p3"/>
          <p:cNvSpPr/>
          <p:nvPr/>
        </p:nvSpPr>
        <p:spPr>
          <a:xfrm>
            <a:off x="7503120" y="2499221"/>
            <a:ext cx="37569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average tenure · 75%+ have 6 years or more</a:t>
            </a:r>
            <a:endParaRPr b="0" i="0" sz="1200" u="none" cap="none" strike="noStrike">
              <a:solidFill>
                <a:schemeClr val="dk1"/>
              </a:solidFill>
              <a:latin typeface="IBM Plex Sans"/>
              <a:ea typeface="IBM Plex Sans"/>
              <a:cs typeface="IBM Plex Sans"/>
              <a:sym typeface="IBM Plex Sans"/>
            </a:endParaRPr>
          </a:p>
        </p:txBody>
      </p:sp>
      <p:sp>
        <p:nvSpPr>
          <p:cNvPr id="110" name="Google Shape;110;p3"/>
          <p:cNvSpPr/>
          <p:nvPr/>
        </p:nvSpPr>
        <p:spPr>
          <a:xfrm>
            <a:off x="7274520" y="3042741"/>
            <a:ext cx="4104680" cy="1041301"/>
          </a:xfrm>
          <a:prstGeom prst="roundRect">
            <a:avLst>
              <a:gd fmla="val 7318" name="adj"/>
            </a:avLst>
          </a:prstGeom>
          <a:solidFill>
            <a:srgbClr val="FFF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7503120" y="3220541"/>
            <a:ext cx="3756904" cy="47238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4213D"/>
              </a:buClr>
              <a:buSzPts val="3200"/>
              <a:buFont typeface="Source Serif 4"/>
              <a:buNone/>
            </a:pPr>
            <a:r>
              <a:rPr b="1" i="0" lang="en-US" sz="3200" u="none" cap="none" strike="noStrike">
                <a:solidFill>
                  <a:srgbClr val="14213D"/>
                </a:solidFill>
                <a:latin typeface="Source Serif 4"/>
                <a:ea typeface="Source Serif 4"/>
                <a:cs typeface="Source Serif 4"/>
                <a:sym typeface="Source Serif 4"/>
              </a:rPr>
              <a:t>2 accounts</a:t>
            </a:r>
            <a:endParaRPr b="0" i="0" sz="3200" u="none" cap="none" strike="noStrike">
              <a:solidFill>
                <a:schemeClr val="dk1"/>
              </a:solidFill>
              <a:latin typeface="IBM Plex Sans"/>
              <a:ea typeface="IBM Plex Sans"/>
              <a:cs typeface="IBM Plex Sans"/>
              <a:sym typeface="IBM Plex Sans"/>
            </a:endParaRPr>
          </a:p>
        </p:txBody>
      </p:sp>
      <p:sp>
        <p:nvSpPr>
          <p:cNvPr id="112" name="Google Shape;112;p3"/>
          <p:cNvSpPr/>
          <p:nvPr/>
        </p:nvSpPr>
        <p:spPr>
          <a:xfrm>
            <a:off x="7503120" y="3692922"/>
            <a:ext cx="37569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held by 79% of clients</a:t>
            </a:r>
            <a:endParaRPr b="0" i="0" sz="1200" u="none" cap="none" strike="noStrike">
              <a:solidFill>
                <a:schemeClr val="dk1"/>
              </a:solidFill>
              <a:latin typeface="IBM Plex Sans"/>
              <a:ea typeface="IBM Plex Sans"/>
              <a:cs typeface="IBM Plex Sans"/>
              <a:sym typeface="IBM Plex Sans"/>
            </a:endParaRPr>
          </a:p>
        </p:txBody>
      </p:sp>
      <p:sp>
        <p:nvSpPr>
          <p:cNvPr id="113" name="Google Shape;113;p3"/>
          <p:cNvSpPr/>
          <p:nvPr/>
        </p:nvSpPr>
        <p:spPr>
          <a:xfrm>
            <a:off x="7274520" y="4236442"/>
            <a:ext cx="4104680" cy="1041301"/>
          </a:xfrm>
          <a:prstGeom prst="roundRect">
            <a:avLst>
              <a:gd fmla="val 7318" name="adj"/>
            </a:avLst>
          </a:prstGeom>
          <a:solidFill>
            <a:srgbClr val="FFF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7503120" y="4414242"/>
            <a:ext cx="3756904" cy="472380"/>
          </a:xfrm>
          <a:prstGeom prst="rect">
            <a:avLst/>
          </a:prstGeom>
          <a:noFill/>
          <a:ln>
            <a:noFill/>
          </a:ln>
        </p:spPr>
        <p:txBody>
          <a:bodyPr anchorCtr="0" anchor="t" bIns="0" lIns="0" spcFirstLastPara="1" rIns="0" wrap="square" tIns="0">
            <a:normAutofit/>
          </a:bodyPr>
          <a:lstStyle/>
          <a:p>
            <a:pPr indent="0" lvl="0" marL="0" marR="0" rtl="0" algn="l">
              <a:lnSpc>
                <a:spcPct val="110000"/>
              </a:lnSpc>
              <a:spcBef>
                <a:spcPts val="0"/>
              </a:spcBef>
              <a:spcAft>
                <a:spcPts val="0"/>
              </a:spcAft>
              <a:buClr>
                <a:srgbClr val="14213D"/>
              </a:buClr>
              <a:buSzPts val="3200"/>
              <a:buFont typeface="Source Serif 4"/>
              <a:buNone/>
            </a:pPr>
            <a:r>
              <a:rPr b="1" i="0" lang="en-US" sz="3200" u="none" cap="none" strike="noStrike">
                <a:solidFill>
                  <a:srgbClr val="14213D"/>
                </a:solidFill>
                <a:latin typeface="Source Serif 4"/>
                <a:ea typeface="Source Serif 4"/>
                <a:cs typeface="Source Serif 4"/>
                <a:sym typeface="Source Serif 4"/>
              </a:rPr>
              <a:t>$65,700</a:t>
            </a:r>
            <a:endParaRPr b="0" i="0" sz="3200" u="none" cap="none" strike="noStrike">
              <a:solidFill>
                <a:schemeClr val="dk1"/>
              </a:solidFill>
              <a:latin typeface="IBM Plex Sans"/>
              <a:ea typeface="IBM Plex Sans"/>
              <a:cs typeface="IBM Plex Sans"/>
              <a:sym typeface="IBM Plex Sans"/>
            </a:endParaRPr>
          </a:p>
        </p:txBody>
      </p:sp>
      <p:sp>
        <p:nvSpPr>
          <p:cNvPr id="115" name="Google Shape;115;p3"/>
          <p:cNvSpPr/>
          <p:nvPr/>
        </p:nvSpPr>
        <p:spPr>
          <a:xfrm>
            <a:off x="7503120" y="4886623"/>
            <a:ext cx="3756904"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median balance</a:t>
            </a:r>
            <a:endParaRPr b="0" i="0" sz="1200" u="none" cap="none" strike="noStrike">
              <a:solidFill>
                <a:schemeClr val="dk1"/>
              </a:solidFill>
              <a:latin typeface="IBM Plex Sans"/>
              <a:ea typeface="IBM Plex Sans"/>
              <a:cs typeface="IBM Plex Sans"/>
              <a:sym typeface="IBM Plex Sans"/>
            </a:endParaRPr>
          </a:p>
        </p:txBody>
      </p:sp>
      <p:sp>
        <p:nvSpPr>
          <p:cNvPr id="116" name="Google Shape;116;p3"/>
          <p:cNvSpPr/>
          <p:nvPr/>
        </p:nvSpPr>
        <p:spPr>
          <a:xfrm>
            <a:off x="10893544" y="6236990"/>
            <a:ext cx="485656"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68"/>
              </a:buClr>
              <a:buSzPts val="1200"/>
              <a:buFont typeface="IBM Plex Sans"/>
              <a:buNone/>
            </a:pPr>
            <a:r>
              <a:rPr lang="en-US" sz="1200">
                <a:solidFill>
                  <a:srgbClr val="4A5568"/>
                </a:solidFill>
                <a:latin typeface="IBM Plex Sans"/>
                <a:ea typeface="IBM Plex Sans"/>
                <a:cs typeface="IBM Plex Sans"/>
                <a:sym typeface="IBM Plex Sans"/>
              </a:rPr>
              <a:t>4</a:t>
            </a:r>
            <a:r>
              <a:rPr b="0" i="0" lang="en-US" sz="1200" u="none" cap="none" strike="noStrike">
                <a:solidFill>
                  <a:srgbClr val="4A5568"/>
                </a:solidFill>
                <a:latin typeface="IBM Plex Sans"/>
                <a:ea typeface="IBM Plex Sans"/>
                <a:cs typeface="IBM Plex Sans"/>
                <a:sym typeface="IBM Plex Sans"/>
              </a:rPr>
              <a:t> / 12</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121" name="Shape 121"/>
        <p:cNvGrpSpPr/>
        <p:nvPr/>
      </p:nvGrpSpPr>
      <p:grpSpPr>
        <a:xfrm>
          <a:off x="0" y="0"/>
          <a:ext cx="0" cy="0"/>
          <a:chOff x="0" y="0"/>
          <a:chExt cx="0" cy="0"/>
        </a:xfrm>
      </p:grpSpPr>
      <p:sp>
        <p:nvSpPr>
          <p:cNvPr id="122" name="Google Shape;122;p5"/>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61A"/>
              </a:buClr>
              <a:buSzPts val="1200"/>
              <a:buFont typeface="IBM Plex Sans"/>
              <a:buNone/>
            </a:pPr>
            <a:r>
              <a:rPr b="0" i="0" lang="en-US" sz="1200" u="none" cap="none" strike="noStrike">
                <a:solidFill>
                  <a:srgbClr val="B4561A"/>
                </a:solidFill>
                <a:latin typeface="IBM Plex Sans"/>
                <a:ea typeface="IBM Plex Sans"/>
                <a:cs typeface="IBM Plex Sans"/>
                <a:sym typeface="IBM Plex Sans"/>
              </a:rPr>
              <a:t>KPI 2 · TIME PER STEP</a:t>
            </a:r>
            <a:endParaRPr b="0" i="0" sz="1200" u="none" cap="none" strike="noStrike">
              <a:solidFill>
                <a:schemeClr val="dk1"/>
              </a:solidFill>
              <a:latin typeface="IBM Plex Sans"/>
              <a:ea typeface="IBM Plex Sans"/>
              <a:cs typeface="IBM Plex Sans"/>
              <a:sym typeface="IBM Plex Sans"/>
            </a:endParaRPr>
          </a:p>
        </p:txBody>
      </p:sp>
      <p:sp>
        <p:nvSpPr>
          <p:cNvPr id="123" name="Google Shape;123;p5"/>
          <p:cNvSpPr txBox="1"/>
          <p:nvPr>
            <p:ph type="title"/>
          </p:nvPr>
        </p:nvSpPr>
        <p:spPr>
          <a:xfrm>
            <a:off x="812800" y="1076920"/>
            <a:ext cx="10883392"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Faster on most steps, but slower on step 1</a:t>
            </a:r>
            <a:endParaRPr sz="3200"/>
          </a:p>
        </p:txBody>
      </p:sp>
      <p:graphicFrame>
        <p:nvGraphicFramePr>
          <p:cNvPr id="124" name="Google Shape;124;p5"/>
          <p:cNvGraphicFramePr/>
          <p:nvPr/>
        </p:nvGraphicFramePr>
        <p:xfrm>
          <a:off x="825500" y="1861741"/>
          <a:ext cx="3000000" cy="3000000"/>
        </p:xfrm>
        <a:graphic>
          <a:graphicData uri="http://schemas.openxmlformats.org/drawingml/2006/table">
            <a:tbl>
              <a:tblPr>
                <a:noFill/>
                <a:tableStyleId>{79DEBDC5-9959-478B-8C66-EB90CEECB7AA}</a:tableStyleId>
              </a:tblPr>
              <a:tblGrid>
                <a:gridCol w="1609450"/>
                <a:gridCol w="1264575"/>
                <a:gridCol w="1264575"/>
                <a:gridCol w="1609450"/>
              </a:tblGrid>
              <a:tr h="385950">
                <a:tc>
                  <a:txBody>
                    <a:bodyPr/>
                    <a:lstStyle/>
                    <a:p>
                      <a:pPr indent="0" lvl="0" marL="0" marR="0" rtl="0" algn="l">
                        <a:lnSpc>
                          <a:spcPct val="140000"/>
                        </a:lnSpc>
                        <a:spcBef>
                          <a:spcPts val="0"/>
                        </a:spcBef>
                        <a:spcAft>
                          <a:spcPts val="0"/>
                        </a:spcAft>
                        <a:buClr>
                          <a:srgbClr val="1F2A44"/>
                        </a:buClr>
                        <a:buSzPts val="1400"/>
                        <a:buFont typeface="IBM Plex Sans"/>
                        <a:buNone/>
                      </a:pPr>
                      <a:r>
                        <a:rPr b="1" lang="en-US" sz="1400" u="none" cap="none" strike="noStrike">
                          <a:solidFill>
                            <a:srgbClr val="1F2A44"/>
                          </a:solidFill>
                          <a:latin typeface="IBM Plex Sans"/>
                          <a:ea typeface="IBM Plex Sans"/>
                          <a:cs typeface="IBM Plex Sans"/>
                          <a:sym typeface="IBM Plex Sans"/>
                        </a:rPr>
                        <a:t>Step</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B7B5B1"/>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7B5B1"/>
                      </a:solidFill>
                      <a:prstDash val="solid"/>
                      <a:round/>
                      <a:headEnd len="sm" w="sm" type="none"/>
                      <a:tailEnd len="sm" w="sm" type="none"/>
                    </a:lnB>
                    <a:solidFill>
                      <a:srgbClr val="E5E3DE"/>
                    </a:solidFill>
                  </a:tcPr>
                </a:tc>
                <a:tc>
                  <a:txBody>
                    <a:bodyPr/>
                    <a:lstStyle/>
                    <a:p>
                      <a:pPr indent="0" lvl="0" marL="0" marR="0" rtl="0" algn="r">
                        <a:lnSpc>
                          <a:spcPct val="140000"/>
                        </a:lnSpc>
                        <a:spcBef>
                          <a:spcPts val="0"/>
                        </a:spcBef>
                        <a:spcAft>
                          <a:spcPts val="0"/>
                        </a:spcAft>
                        <a:buClr>
                          <a:srgbClr val="1F2A44"/>
                        </a:buClr>
                        <a:buSzPts val="1400"/>
                        <a:buFont typeface="IBM Plex Sans"/>
                        <a:buNone/>
                      </a:pPr>
                      <a:r>
                        <a:rPr b="1" lang="en-US" sz="1400" u="none" cap="none" strike="noStrike">
                          <a:solidFill>
                            <a:srgbClr val="1F2A44"/>
                          </a:solidFill>
                          <a:latin typeface="IBM Plex Sans"/>
                          <a:ea typeface="IBM Plex Sans"/>
                          <a:cs typeface="IBM Plex Sans"/>
                          <a:sym typeface="IBM Plex Sans"/>
                        </a:rPr>
                        <a:t>Control</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5B1"/>
                      </a:solidFill>
                      <a:prstDash val="solid"/>
                      <a:round/>
                      <a:headEnd len="sm" w="sm" type="none"/>
                      <a:tailEnd len="sm" w="sm" type="none"/>
                    </a:lnL>
                    <a:lnR cap="flat" cmpd="sng" w="12700">
                      <a:solidFill>
                        <a:srgbClr val="B7B5B1"/>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7B5B1"/>
                      </a:solidFill>
                      <a:prstDash val="solid"/>
                      <a:round/>
                      <a:headEnd len="sm" w="sm" type="none"/>
                      <a:tailEnd len="sm" w="sm" type="none"/>
                    </a:lnB>
                    <a:solidFill>
                      <a:srgbClr val="E5E3DE"/>
                    </a:solidFill>
                  </a:tcPr>
                </a:tc>
                <a:tc>
                  <a:txBody>
                    <a:bodyPr/>
                    <a:lstStyle/>
                    <a:p>
                      <a:pPr indent="0" lvl="0" marL="0" marR="0" rtl="0" algn="r">
                        <a:lnSpc>
                          <a:spcPct val="140000"/>
                        </a:lnSpc>
                        <a:spcBef>
                          <a:spcPts val="0"/>
                        </a:spcBef>
                        <a:spcAft>
                          <a:spcPts val="0"/>
                        </a:spcAft>
                        <a:buClr>
                          <a:srgbClr val="1F2A44"/>
                        </a:buClr>
                        <a:buSzPts val="1400"/>
                        <a:buFont typeface="IBM Plex Sans"/>
                        <a:buNone/>
                      </a:pPr>
                      <a:r>
                        <a:rPr b="1" lang="en-US" sz="1400" u="none" cap="none" strike="noStrike">
                          <a:solidFill>
                            <a:srgbClr val="1F2A44"/>
                          </a:solidFill>
                          <a:latin typeface="IBM Plex Sans"/>
                          <a:ea typeface="IBM Plex Sans"/>
                          <a:cs typeface="IBM Plex Sans"/>
                          <a:sym typeface="IBM Plex Sans"/>
                        </a:rPr>
                        <a:t>Test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5B1"/>
                      </a:solidFill>
                      <a:prstDash val="solid"/>
                      <a:round/>
                      <a:headEnd len="sm" w="sm" type="none"/>
                      <a:tailEnd len="sm" w="sm" type="none"/>
                    </a:lnL>
                    <a:lnR cap="flat" cmpd="sng" w="12700">
                      <a:solidFill>
                        <a:srgbClr val="B7B5B1"/>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7B5B1"/>
                      </a:solidFill>
                      <a:prstDash val="solid"/>
                      <a:round/>
                      <a:headEnd len="sm" w="sm" type="none"/>
                      <a:tailEnd len="sm" w="sm" type="none"/>
                    </a:lnB>
                    <a:solidFill>
                      <a:srgbClr val="E5E3DE"/>
                    </a:solidFill>
                  </a:tcPr>
                </a:tc>
                <a:tc>
                  <a:txBody>
                    <a:bodyPr/>
                    <a:lstStyle/>
                    <a:p>
                      <a:pPr indent="0" lvl="0" marL="0" marR="0" rtl="0" algn="r">
                        <a:lnSpc>
                          <a:spcPct val="140000"/>
                        </a:lnSpc>
                        <a:spcBef>
                          <a:spcPts val="0"/>
                        </a:spcBef>
                        <a:spcAft>
                          <a:spcPts val="0"/>
                        </a:spcAft>
                        <a:buClr>
                          <a:srgbClr val="1F2A44"/>
                        </a:buClr>
                        <a:buSzPts val="1400"/>
                        <a:buFont typeface="IBM Plex Sans"/>
                        <a:buNone/>
                      </a:pPr>
                      <a:r>
                        <a:rPr b="1" lang="en-US" sz="1400" u="none" cap="none" strike="noStrike">
                          <a:solidFill>
                            <a:srgbClr val="1F2A44"/>
                          </a:solidFill>
                          <a:latin typeface="IBM Plex Sans"/>
                          <a:ea typeface="IBM Plex Sans"/>
                          <a:cs typeface="IBM Plex Sans"/>
                          <a:sym typeface="IBM Plex Sans"/>
                        </a:rPr>
                        <a:t>Change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5B1"/>
                      </a:solidFill>
                      <a:prstDash val="solid"/>
                      <a:round/>
                      <a:headEnd len="sm" w="sm" type="none"/>
                      <a:tailEnd len="sm" w="sm" type="none"/>
                    </a:lnL>
                    <a:lnR cap="flat" cmpd="sng" w="12700">
                      <a:solidFill>
                        <a:srgbClr val="B7B5B1"/>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7B5B1"/>
                      </a:solidFill>
                      <a:prstDash val="solid"/>
                      <a:round/>
                      <a:headEnd len="sm" w="sm" type="none"/>
                      <a:tailEnd len="sm" w="sm" type="none"/>
                    </a:lnB>
                    <a:solidFill>
                      <a:srgbClr val="E5E3DE"/>
                    </a:solidFill>
                  </a:tcPr>
                </a:tc>
              </a:tr>
              <a:tr h="385950">
                <a:tc>
                  <a:txBody>
                    <a:bodyPr/>
                    <a:lstStyle/>
                    <a:p>
                      <a:pPr indent="0" lvl="0" marL="0" marR="0" rtl="0" algn="l">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start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B7B5B1"/>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60.9 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B7B5B1"/>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56.3 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B7B5B1"/>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−7.6% faster</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B7B5B1"/>
                      </a:solidFill>
                      <a:prstDash val="solid"/>
                      <a:round/>
                      <a:headEnd len="sm" w="sm" type="none"/>
                      <a:tailEnd len="sm" w="sm" type="none"/>
                    </a:lnT>
                    <a:lnB cap="flat" cmpd="sng" w="12700">
                      <a:solidFill>
                        <a:srgbClr val="C5C4BF"/>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step 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4B09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4B09F"/>
                      </a:solidFill>
                      <a:prstDash val="solid"/>
                      <a:round/>
                      <a:headEnd len="sm" w="sm" type="none"/>
                      <a:tailEnd len="sm" w="sm" type="none"/>
                    </a:lnB>
                    <a:solidFill>
                      <a:srgbClr val="F6DCC6"/>
                    </a:solidFill>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47.5 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B09F"/>
                      </a:solidFill>
                      <a:prstDash val="solid"/>
                      <a:round/>
                      <a:headEnd len="sm" w="sm" type="none"/>
                      <a:tailEnd len="sm" w="sm" type="none"/>
                    </a:lnL>
                    <a:lnR cap="flat" cmpd="sng" w="12700">
                      <a:solidFill>
                        <a:srgbClr val="C4B09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4B09F"/>
                      </a:solidFill>
                      <a:prstDash val="solid"/>
                      <a:round/>
                      <a:headEnd len="sm" w="sm" type="none"/>
                      <a:tailEnd len="sm" w="sm" type="none"/>
                    </a:lnB>
                    <a:solidFill>
                      <a:srgbClr val="F6DCC6"/>
                    </a:solidFill>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58.5 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B09F"/>
                      </a:solidFill>
                      <a:prstDash val="solid"/>
                      <a:round/>
                      <a:headEnd len="sm" w="sm" type="none"/>
                      <a:tailEnd len="sm" w="sm" type="none"/>
                    </a:lnL>
                    <a:lnR cap="flat" cmpd="sng" w="12700">
                      <a:solidFill>
                        <a:srgbClr val="C4B09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4B09F"/>
                      </a:solidFill>
                      <a:prstDash val="solid"/>
                      <a:round/>
                      <a:headEnd len="sm" w="sm" type="none"/>
                      <a:tailEnd len="sm" w="sm" type="none"/>
                    </a:lnB>
                    <a:solidFill>
                      <a:srgbClr val="F6DCC6"/>
                    </a:solidFill>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+23.2% slower</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B09F"/>
                      </a:solidFill>
                      <a:prstDash val="solid"/>
                      <a:round/>
                      <a:headEnd len="sm" w="sm" type="none"/>
                      <a:tailEnd len="sm" w="sm" type="none"/>
                    </a:lnL>
                    <a:lnR cap="flat" cmpd="sng" w="12700">
                      <a:solidFill>
                        <a:srgbClr val="C4B09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4B09F"/>
                      </a:solidFill>
                      <a:prstDash val="solid"/>
                      <a:round/>
                      <a:headEnd len="sm" w="sm" type="none"/>
                      <a:tailEnd len="sm" w="sm" type="none"/>
                    </a:lnB>
                    <a:solidFill>
                      <a:srgbClr val="F6DCC6"/>
                    </a:solidFill>
                  </a:tcPr>
                </a:tc>
              </a:tr>
              <a:tr h="385950">
                <a:tc>
                  <a:txBody>
                    <a:bodyPr/>
                    <a:lstStyle/>
                    <a:p>
                      <a:pPr indent="0" lvl="0" marL="0" marR="0" rtl="0" algn="l">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step 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4B09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90.2 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4B09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88.1 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4B09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−2.3% faster</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4B09F"/>
                      </a:solidFill>
                      <a:prstDash val="solid"/>
                      <a:round/>
                      <a:headEnd len="sm" w="sm" type="none"/>
                      <a:tailEnd len="sm" w="sm" type="none"/>
                    </a:lnT>
                    <a:lnB cap="flat" cmpd="sng" w="12700">
                      <a:solidFill>
                        <a:srgbClr val="C5C4BF"/>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step 3</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133.3 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124.8 s</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−6.4% faster</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r>
            </a:tbl>
          </a:graphicData>
        </a:graphic>
      </p:graphicFrame>
      <p:sp>
        <p:nvSpPr>
          <p:cNvPr id="125" name="Google Shape;125;p5"/>
          <p:cNvSpPr/>
          <p:nvPr/>
        </p:nvSpPr>
        <p:spPr>
          <a:xfrm>
            <a:off x="6979940" y="1966912"/>
            <a:ext cx="4399260" cy="1706761"/>
          </a:xfrm>
          <a:prstGeom prst="roundRect">
            <a:avLst>
              <a:gd fmla="val 4465" name="adj"/>
            </a:avLst>
          </a:prstGeom>
          <a:solidFill>
            <a:srgbClr val="FFF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6979940" y="1966912"/>
            <a:ext cx="4399260" cy="1706761"/>
          </a:xfrm>
          <a:custGeom>
            <a:rect b="b" l="l" r="r" t="t"/>
            <a:pathLst>
              <a:path extrusionOk="0" h="1706761" w="4399260">
                <a:moveTo>
                  <a:pt x="76200" y="1706761"/>
                </a:moveTo>
                <a:lnTo>
                  <a:pt x="76200" y="1706761"/>
                </a:lnTo>
                <a:cubicBezTo>
                  <a:pt x="34116" y="1706761"/>
                  <a:pt x="0" y="1672645"/>
                  <a:pt x="0" y="1630561"/>
                </a:cubicBezTo>
                <a:lnTo>
                  <a:pt x="0" y="76200"/>
                </a:lnTo>
                <a:cubicBezTo>
                  <a:pt x="0" y="34116"/>
                  <a:pt x="34116" y="0"/>
                  <a:pt x="76200" y="0"/>
                </a:cubicBezTo>
                <a:lnTo>
                  <a:pt x="76200" y="0"/>
                </a:lnTo>
                <a:cubicBezTo>
                  <a:pt x="62172" y="0"/>
                  <a:pt x="50800" y="34116"/>
                  <a:pt x="50800" y="76200"/>
                </a:cubicBezTo>
                <a:lnTo>
                  <a:pt x="50800" y="1630561"/>
                </a:lnTo>
                <a:cubicBezTo>
                  <a:pt x="50800" y="1650770"/>
                  <a:pt x="53476" y="1670152"/>
                  <a:pt x="58239" y="1684443"/>
                </a:cubicBezTo>
                <a:cubicBezTo>
                  <a:pt x="63003" y="1698733"/>
                  <a:pt x="69464" y="1706761"/>
                  <a:pt x="76200" y="1706761"/>
                </a:cubicBezTo>
                <a:close/>
              </a:path>
            </a:pathLst>
          </a:custGeom>
          <a:solidFill>
            <a:srgbClr val="D97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7284740" y="2220913"/>
            <a:ext cx="3955674" cy="2691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600"/>
              <a:buFont typeface="IBM Plex Sans"/>
              <a:buNone/>
            </a:pPr>
            <a:r>
              <a:rPr b="1" i="0" lang="en-US" sz="1600" u="none" cap="none" strike="noStrike">
                <a:solidFill>
                  <a:srgbClr val="14213D"/>
                </a:solidFill>
                <a:latin typeface="IBM Plex Sans"/>
                <a:ea typeface="IBM Plex Sans"/>
                <a:cs typeface="IBM Plex Sans"/>
                <a:sym typeface="IBM Plex Sans"/>
              </a:rPr>
              <a:t>Possible bottleneck</a:t>
            </a:r>
            <a:endParaRPr b="0" i="0" sz="1600" u="none" cap="none" strike="noStrike">
              <a:solidFill>
                <a:schemeClr val="dk1"/>
              </a:solidFill>
              <a:latin typeface="IBM Plex Sans"/>
              <a:ea typeface="IBM Plex Sans"/>
              <a:cs typeface="IBM Plex Sans"/>
              <a:sym typeface="IBM Plex Sans"/>
            </a:endParaRPr>
          </a:p>
        </p:txBody>
      </p:sp>
      <p:sp>
        <p:nvSpPr>
          <p:cNvPr id="128" name="Google Shape;128;p5"/>
          <p:cNvSpPr/>
          <p:nvPr/>
        </p:nvSpPr>
        <p:spPr>
          <a:xfrm>
            <a:off x="7284740" y="2566293"/>
            <a:ext cx="3955674" cy="87878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600"/>
              <a:buFont typeface="IBM Plex Sans"/>
              <a:buNone/>
            </a:pPr>
            <a:r>
              <a:rPr b="0" i="0" lang="en-US" sz="1600" u="none" cap="none" strike="noStrike">
                <a:solidFill>
                  <a:srgbClr val="4A5568"/>
                </a:solidFill>
                <a:latin typeface="IBM Plex Sans"/>
                <a:ea typeface="IBM Plex Sans"/>
                <a:cs typeface="IBM Plex Sans"/>
                <a:sym typeface="IBM Plex Sans"/>
              </a:rPr>
              <a:t>Test clients need 11 seconds more on step 1. This is where the new design may confuse them.</a:t>
            </a:r>
            <a:endParaRPr b="0" i="0" sz="1600" u="none" cap="none" strike="noStrike">
              <a:solidFill>
                <a:schemeClr val="dk1"/>
              </a:solidFill>
              <a:latin typeface="IBM Plex Sans"/>
              <a:ea typeface="IBM Plex Sans"/>
              <a:cs typeface="IBM Plex Sans"/>
              <a:sym typeface="IBM Plex Sans"/>
            </a:endParaRPr>
          </a:p>
        </p:txBody>
      </p:sp>
      <p:sp>
        <p:nvSpPr>
          <p:cNvPr id="129" name="Google Shape;129;p5"/>
          <p:cNvSpPr/>
          <p:nvPr/>
        </p:nvSpPr>
        <p:spPr>
          <a:xfrm>
            <a:off x="812800" y="4096345"/>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Average seconds spent on each step · intervals over 30 minutes excluded</a:t>
            </a:r>
            <a:endParaRPr b="0" i="0" sz="1200" u="none" cap="none" strike="noStrike">
              <a:solidFill>
                <a:schemeClr val="dk1"/>
              </a:solidFill>
              <a:latin typeface="IBM Plex Sans"/>
              <a:ea typeface="IBM Plex Sans"/>
              <a:cs typeface="IBM Plex Sans"/>
              <a:sym typeface="IBM Plex Sans"/>
            </a:endParaRPr>
          </a:p>
        </p:txBody>
      </p:sp>
      <p:sp>
        <p:nvSpPr>
          <p:cNvPr id="130" name="Google Shape;130;p5"/>
          <p:cNvSpPr/>
          <p:nvPr/>
        </p:nvSpPr>
        <p:spPr>
          <a:xfrm>
            <a:off x="10893544" y="6236990"/>
            <a:ext cx="485656"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5 / 12</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135" name="Shape 135"/>
        <p:cNvGrpSpPr/>
        <p:nvPr/>
      </p:nvGrpSpPr>
      <p:grpSpPr>
        <a:xfrm>
          <a:off x="0" y="0"/>
          <a:ext cx="0" cy="0"/>
          <a:chOff x="0" y="0"/>
          <a:chExt cx="0" cy="0"/>
        </a:xfrm>
      </p:grpSpPr>
      <p:sp>
        <p:nvSpPr>
          <p:cNvPr id="136" name="Google Shape;136;p8"/>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61A"/>
              </a:buClr>
              <a:buSzPts val="1200"/>
              <a:buFont typeface="IBM Plex Sans"/>
              <a:buNone/>
            </a:pPr>
            <a:r>
              <a:rPr b="0" i="0" lang="en-US" sz="1200" u="none" cap="none" strike="noStrike">
                <a:solidFill>
                  <a:srgbClr val="B4561A"/>
                </a:solidFill>
                <a:latin typeface="IBM Plex Sans"/>
                <a:ea typeface="IBM Plex Sans"/>
                <a:cs typeface="IBM Plex Sans"/>
                <a:sym typeface="IBM Plex Sans"/>
              </a:rPr>
              <a:t>HYPOTHESIS TEST · YOUNGER VS OLDER CLIENTS</a:t>
            </a:r>
            <a:endParaRPr b="0" i="0" sz="1200" u="none" cap="none" strike="noStrike">
              <a:solidFill>
                <a:schemeClr val="dk1"/>
              </a:solidFill>
              <a:latin typeface="IBM Plex Sans"/>
              <a:ea typeface="IBM Plex Sans"/>
              <a:cs typeface="IBM Plex Sans"/>
              <a:sym typeface="IBM Plex Sans"/>
            </a:endParaRPr>
          </a:p>
        </p:txBody>
      </p:sp>
      <p:sp>
        <p:nvSpPr>
          <p:cNvPr id="137" name="Google Shape;137;p8"/>
          <p:cNvSpPr txBox="1"/>
          <p:nvPr>
            <p:ph type="title"/>
          </p:nvPr>
        </p:nvSpPr>
        <p:spPr>
          <a:xfrm>
            <a:off x="812800" y="1076920"/>
            <a:ext cx="10883392"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The redesign helps both age groups finish</a:t>
            </a:r>
            <a:endParaRPr sz="3200"/>
          </a:p>
        </p:txBody>
      </p:sp>
      <p:graphicFrame>
        <p:nvGraphicFramePr>
          <p:cNvPr id="138" name="Google Shape;138;p8"/>
          <p:cNvGraphicFramePr/>
          <p:nvPr/>
        </p:nvGraphicFramePr>
        <p:xfrm>
          <a:off x="825500" y="1861741"/>
          <a:ext cx="3000000" cy="3000000"/>
        </p:xfrm>
        <a:graphic>
          <a:graphicData uri="http://schemas.openxmlformats.org/drawingml/2006/table">
            <a:tbl>
              <a:tblPr>
                <a:noFill/>
                <a:tableStyleId>{79DEBDC5-9959-478B-8C66-EB90CEECB7AA}</a:tableStyleId>
              </a:tblPr>
              <a:tblGrid>
                <a:gridCol w="3799325"/>
                <a:gridCol w="3377175"/>
                <a:gridCol w="3377175"/>
              </a:tblGrid>
              <a:tr h="385950">
                <a:tc>
                  <a:txBody>
                    <a:bodyPr/>
                    <a:lstStyle/>
                    <a:p>
                      <a:pPr indent="0" lvl="0" marL="0" marR="0" rtl="0" algn="l">
                        <a:lnSpc>
                          <a:spcPct val="140000"/>
                        </a:lnSpc>
                        <a:spcBef>
                          <a:spcPts val="0"/>
                        </a:spcBef>
                        <a:spcAft>
                          <a:spcPts val="0"/>
                        </a:spcAft>
                        <a:buClr>
                          <a:srgbClr val="1F2A44"/>
                        </a:buClr>
                        <a:buSzPts val="1400"/>
                        <a:buFont typeface="IBM Plex Sans"/>
                        <a:buNone/>
                      </a:pPr>
                      <a:r>
                        <a:rPr b="1" lang="en-US" sz="1400" u="none" cap="none" strike="noStrike">
                          <a:solidFill>
                            <a:srgbClr val="1F2A44"/>
                          </a:solidFill>
                          <a:latin typeface="IBM Plex Sans"/>
                          <a:ea typeface="IBM Plex Sans"/>
                          <a:cs typeface="IBM Plex Sans"/>
                          <a:sym typeface="IBM Plex Sans"/>
                        </a:rPr>
                        <a:t>Effect of the new design</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B7B5B1"/>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7B5B1"/>
                      </a:solidFill>
                      <a:prstDash val="solid"/>
                      <a:round/>
                      <a:headEnd len="sm" w="sm" type="none"/>
                      <a:tailEnd len="sm" w="sm" type="none"/>
                    </a:lnB>
                    <a:solidFill>
                      <a:srgbClr val="E5E3DE"/>
                    </a:solidFill>
                  </a:tcPr>
                </a:tc>
                <a:tc>
                  <a:txBody>
                    <a:bodyPr/>
                    <a:lstStyle/>
                    <a:p>
                      <a:pPr indent="0" lvl="0" marL="0" marR="0" rtl="0" algn="r">
                        <a:lnSpc>
                          <a:spcPct val="140000"/>
                        </a:lnSpc>
                        <a:spcBef>
                          <a:spcPts val="0"/>
                        </a:spcBef>
                        <a:spcAft>
                          <a:spcPts val="0"/>
                        </a:spcAft>
                        <a:buClr>
                          <a:srgbClr val="1F2A44"/>
                        </a:buClr>
                        <a:buSzPts val="1400"/>
                        <a:buFont typeface="IBM Plex Sans"/>
                        <a:buNone/>
                      </a:pPr>
                      <a:r>
                        <a:rPr b="1" lang="en-US" sz="1400" u="none" cap="none" strike="noStrike">
                          <a:solidFill>
                            <a:srgbClr val="1F2A44"/>
                          </a:solidFill>
                          <a:latin typeface="IBM Plex Sans"/>
                          <a:ea typeface="IBM Plex Sans"/>
                          <a:cs typeface="IBM Plex Sans"/>
                          <a:sym typeface="IBM Plex Sans"/>
                        </a:rPr>
                        <a:t>Under 50</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5B1"/>
                      </a:solidFill>
                      <a:prstDash val="solid"/>
                      <a:round/>
                      <a:headEnd len="sm" w="sm" type="none"/>
                      <a:tailEnd len="sm" w="sm" type="none"/>
                    </a:lnL>
                    <a:lnR cap="flat" cmpd="sng" w="12700">
                      <a:solidFill>
                        <a:srgbClr val="B7B5B1"/>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7B5B1"/>
                      </a:solidFill>
                      <a:prstDash val="solid"/>
                      <a:round/>
                      <a:headEnd len="sm" w="sm" type="none"/>
                      <a:tailEnd len="sm" w="sm" type="none"/>
                    </a:lnB>
                    <a:solidFill>
                      <a:srgbClr val="E5E3DE"/>
                    </a:solidFill>
                  </a:tcPr>
                </a:tc>
                <a:tc>
                  <a:txBody>
                    <a:bodyPr/>
                    <a:lstStyle/>
                    <a:p>
                      <a:pPr indent="0" lvl="0" marL="0" marR="0" rtl="0" algn="r">
                        <a:lnSpc>
                          <a:spcPct val="140000"/>
                        </a:lnSpc>
                        <a:spcBef>
                          <a:spcPts val="0"/>
                        </a:spcBef>
                        <a:spcAft>
                          <a:spcPts val="0"/>
                        </a:spcAft>
                        <a:buClr>
                          <a:srgbClr val="1F2A44"/>
                        </a:buClr>
                        <a:buSzPts val="1400"/>
                        <a:buFont typeface="IBM Plex Sans"/>
                        <a:buNone/>
                      </a:pPr>
                      <a:r>
                        <a:rPr b="1" lang="en-US" sz="1400" u="none" cap="none" strike="noStrike">
                          <a:solidFill>
                            <a:srgbClr val="1F2A44"/>
                          </a:solidFill>
                          <a:latin typeface="IBM Plex Sans"/>
                          <a:ea typeface="IBM Plex Sans"/>
                          <a:cs typeface="IBM Plex Sans"/>
                          <a:sym typeface="IBM Plex Sans"/>
                        </a:rPr>
                        <a:t>50+</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5B1"/>
                      </a:solidFill>
                      <a:prstDash val="solid"/>
                      <a:round/>
                      <a:headEnd len="sm" w="sm" type="none"/>
                      <a:tailEnd len="sm" w="sm" type="none"/>
                    </a:lnL>
                    <a:lnR cap="flat" cmpd="sng" w="12700">
                      <a:solidFill>
                        <a:srgbClr val="B7B5B1"/>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7B5B1"/>
                      </a:solidFill>
                      <a:prstDash val="solid"/>
                      <a:round/>
                      <a:headEnd len="sm" w="sm" type="none"/>
                      <a:tailEnd len="sm" w="sm" type="none"/>
                    </a:lnB>
                    <a:solidFill>
                      <a:srgbClr val="E5E3DE"/>
                    </a:solidFill>
                  </a:tcPr>
                </a:tc>
              </a:tr>
              <a:tr h="385950">
                <a:tc>
                  <a:txBody>
                    <a:bodyPr/>
                    <a:lstStyle/>
                    <a:p>
                      <a:pPr indent="0" lvl="0" marL="0" marR="0" rtl="0" algn="l">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Completion rate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B7B5B1"/>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+3.45 points · significant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B7B5B1"/>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+3.09 points · significant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B7B5B1"/>
                      </a:solidFill>
                      <a:prstDash val="solid"/>
                      <a:round/>
                      <a:headEnd len="sm" w="sm" type="none"/>
                      <a:tailEnd len="sm" w="sm" type="none"/>
                    </a:lnT>
                    <a:lnB cap="flat" cmpd="sng" w="12700">
                      <a:solidFill>
                        <a:srgbClr val="C5C4BF"/>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1F2A44"/>
                        </a:buClr>
                        <a:buSzPts val="1400"/>
                        <a:buFont typeface="IBM Plex Sans"/>
                        <a:buNone/>
                      </a:pPr>
                      <a:r>
                        <a:rPr lang="en-US">
                          <a:solidFill>
                            <a:srgbClr val="1F2A44"/>
                          </a:solidFill>
                          <a:latin typeface="IBM Plex Sans"/>
                          <a:ea typeface="IBM Plex Sans"/>
                          <a:cs typeface="IBM Plex Sans"/>
                          <a:sym typeface="IBM Plex Sans"/>
                        </a:rPr>
                        <a:t>Completion time</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BE3"/>
                    </a:solidFill>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−19.7 s · significant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BE3"/>
                    </a:solidFill>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−8.1 s · not significant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FBCB5"/>
                      </a:solidFill>
                      <a:prstDash val="solid"/>
                      <a:round/>
                      <a:headEnd len="sm" w="sm" type="none"/>
                      <a:tailEnd len="sm" w="sm" type="none"/>
                    </a:lnL>
                    <a:lnR cap="flat" cmpd="sng" w="12700">
                      <a:solidFill>
                        <a:srgbClr val="BFBCB5"/>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FBCB5"/>
                      </a:solidFill>
                      <a:prstDash val="solid"/>
                      <a:round/>
                      <a:headEnd len="sm" w="sm" type="none"/>
                      <a:tailEnd len="sm" w="sm" type="none"/>
                    </a:lnB>
                    <a:solidFill>
                      <a:srgbClr val="EFEBE3"/>
                    </a:solidFill>
                  </a:tcPr>
                </a:tc>
              </a:tr>
            </a:tbl>
          </a:graphicData>
        </a:graphic>
      </p:graphicFrame>
      <p:sp>
        <p:nvSpPr>
          <p:cNvPr id="139" name="Google Shape;139;p8"/>
          <p:cNvSpPr/>
          <p:nvPr/>
        </p:nvSpPr>
        <p:spPr>
          <a:xfrm>
            <a:off x="812800" y="3324423"/>
            <a:ext cx="10566400" cy="1076821"/>
          </a:xfrm>
          <a:prstGeom prst="roundRect">
            <a:avLst>
              <a:gd fmla="val 7076" name="adj"/>
            </a:avLst>
          </a:prstGeom>
          <a:solidFill>
            <a:srgbClr val="FFF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8"/>
          <p:cNvSpPr/>
          <p:nvPr/>
        </p:nvSpPr>
        <p:spPr>
          <a:xfrm>
            <a:off x="812800" y="3324423"/>
            <a:ext cx="10566400" cy="1076821"/>
          </a:xfrm>
          <a:custGeom>
            <a:rect b="b" l="l" r="r" t="t"/>
            <a:pathLst>
              <a:path extrusionOk="0" h="1076821" w="10566400">
                <a:moveTo>
                  <a:pt x="76200" y="1076821"/>
                </a:moveTo>
                <a:lnTo>
                  <a:pt x="76200" y="1076821"/>
                </a:lnTo>
                <a:cubicBezTo>
                  <a:pt x="34116" y="1076821"/>
                  <a:pt x="0" y="1042705"/>
                  <a:pt x="0" y="1000621"/>
                </a:cubicBezTo>
                <a:lnTo>
                  <a:pt x="0" y="76200"/>
                </a:lnTo>
                <a:cubicBezTo>
                  <a:pt x="0" y="34116"/>
                  <a:pt x="34116" y="0"/>
                  <a:pt x="76200" y="0"/>
                </a:cubicBezTo>
                <a:lnTo>
                  <a:pt x="76200" y="0"/>
                </a:lnTo>
                <a:cubicBezTo>
                  <a:pt x="62172" y="0"/>
                  <a:pt x="50800" y="34116"/>
                  <a:pt x="50800" y="76200"/>
                </a:cubicBezTo>
                <a:lnTo>
                  <a:pt x="50800" y="1000621"/>
                </a:lnTo>
                <a:cubicBezTo>
                  <a:pt x="50800" y="1020830"/>
                  <a:pt x="53476" y="1040212"/>
                  <a:pt x="58239" y="1054503"/>
                </a:cubicBezTo>
                <a:cubicBezTo>
                  <a:pt x="63003" y="1068793"/>
                  <a:pt x="69464" y="1076821"/>
                  <a:pt x="76200" y="1076821"/>
                </a:cubicBezTo>
                <a:close/>
              </a:path>
            </a:pathLst>
          </a:cu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p:nvPr/>
        </p:nvSpPr>
        <p:spPr>
          <a:xfrm>
            <a:off x="1117600" y="3578423"/>
            <a:ext cx="10307828" cy="2691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600"/>
              <a:buFont typeface="IBM Plex Sans"/>
              <a:buNone/>
            </a:pPr>
            <a:r>
              <a:rPr b="1" i="0" lang="en-US" sz="1600" u="none" cap="none" strike="noStrike">
                <a:solidFill>
                  <a:srgbClr val="14213D"/>
                </a:solidFill>
                <a:latin typeface="IBM Plex Sans"/>
                <a:ea typeface="IBM Plex Sans"/>
                <a:cs typeface="IBM Plex Sans"/>
                <a:sym typeface="IBM Plex Sans"/>
              </a:rPr>
              <a:t>Does the redesign work differently for clients 50+? No significant difference</a:t>
            </a:r>
            <a:endParaRPr b="0" i="0" sz="1600" u="none" cap="none" strike="noStrike">
              <a:solidFill>
                <a:schemeClr val="dk1"/>
              </a:solidFill>
              <a:latin typeface="IBM Plex Sans"/>
              <a:ea typeface="IBM Plex Sans"/>
              <a:cs typeface="IBM Plex Sans"/>
              <a:sym typeface="IBM Plex Sans"/>
            </a:endParaRPr>
          </a:p>
        </p:txBody>
      </p:sp>
      <p:sp>
        <p:nvSpPr>
          <p:cNvPr id="142" name="Google Shape;142;p8"/>
          <p:cNvSpPr/>
          <p:nvPr/>
        </p:nvSpPr>
        <p:spPr>
          <a:xfrm>
            <a:off x="1117600" y="3898404"/>
            <a:ext cx="10307828"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Younger clients gained 11.7 seconds more, but this gap is not statistically significant. Keep monitoring the 50+ group.</a:t>
            </a:r>
            <a:endParaRPr b="0" i="0" sz="1400" u="none" cap="none" strike="noStrike">
              <a:solidFill>
                <a:schemeClr val="dk1"/>
              </a:solidFill>
              <a:latin typeface="IBM Plex Sans"/>
              <a:ea typeface="IBM Plex Sans"/>
              <a:cs typeface="IBM Plex Sans"/>
              <a:sym typeface="IBM Plex Sans"/>
            </a:endParaRPr>
          </a:p>
        </p:txBody>
      </p:sp>
      <p:sp>
        <p:nvSpPr>
          <p:cNvPr id="143" name="Google Shape;143;p8"/>
          <p:cNvSpPr/>
          <p:nvPr/>
        </p:nvSpPr>
        <p:spPr>
          <a:xfrm>
            <a:off x="10893544" y="6236990"/>
            <a:ext cx="485656"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68"/>
              </a:buClr>
              <a:buSzPts val="1200"/>
              <a:buFont typeface="IBM Plex Sans"/>
              <a:buNone/>
            </a:pPr>
            <a:r>
              <a:rPr lang="en-US" sz="1200">
                <a:solidFill>
                  <a:srgbClr val="4A5568"/>
                </a:solidFill>
                <a:latin typeface="IBM Plex Sans"/>
                <a:ea typeface="IBM Plex Sans"/>
                <a:cs typeface="IBM Plex Sans"/>
                <a:sym typeface="IBM Plex Sans"/>
              </a:rPr>
              <a:t>6</a:t>
            </a:r>
            <a:r>
              <a:rPr b="0" i="0" lang="en-US" sz="1200" u="none" cap="none" strike="noStrike">
                <a:solidFill>
                  <a:srgbClr val="4A5568"/>
                </a:solidFill>
                <a:latin typeface="IBM Plex Sans"/>
                <a:ea typeface="IBM Plex Sans"/>
                <a:cs typeface="IBM Plex Sans"/>
                <a:sym typeface="IBM Plex Sans"/>
              </a:rPr>
              <a:t> / 12</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148" name="Shape 148"/>
        <p:cNvGrpSpPr/>
        <p:nvPr/>
      </p:nvGrpSpPr>
      <p:grpSpPr>
        <a:xfrm>
          <a:off x="0" y="0"/>
          <a:ext cx="0" cy="0"/>
          <a:chOff x="0" y="0"/>
          <a:chExt cx="0" cy="0"/>
        </a:xfrm>
      </p:grpSpPr>
      <p:sp>
        <p:nvSpPr>
          <p:cNvPr id="149" name="Google Shape;149;p6"/>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61A"/>
              </a:buClr>
              <a:buSzPts val="1200"/>
              <a:buFont typeface="IBM Plex Sans"/>
              <a:buNone/>
            </a:pPr>
            <a:r>
              <a:rPr b="0" i="0" lang="en-US" sz="1200" u="none" cap="none" strike="noStrike">
                <a:solidFill>
                  <a:srgbClr val="B4561A"/>
                </a:solidFill>
                <a:latin typeface="IBM Plex Sans"/>
                <a:ea typeface="IBM Plex Sans"/>
                <a:cs typeface="IBM Plex Sans"/>
                <a:sym typeface="IBM Plex Sans"/>
              </a:rPr>
              <a:t>KPI 3 · ERROR RATE</a:t>
            </a:r>
            <a:endParaRPr b="0" i="0" sz="1200" u="none" cap="none" strike="noStrike">
              <a:solidFill>
                <a:schemeClr val="dk1"/>
              </a:solidFill>
              <a:latin typeface="IBM Plex Sans"/>
              <a:ea typeface="IBM Plex Sans"/>
              <a:cs typeface="IBM Plex Sans"/>
              <a:sym typeface="IBM Plex Sans"/>
            </a:endParaRPr>
          </a:p>
        </p:txBody>
      </p:sp>
      <p:sp>
        <p:nvSpPr>
          <p:cNvPr id="150" name="Google Shape;150;p6"/>
          <p:cNvSpPr txBox="1"/>
          <p:nvPr>
            <p:ph type="title"/>
          </p:nvPr>
        </p:nvSpPr>
        <p:spPr>
          <a:xfrm>
            <a:off x="812800" y="1076920"/>
            <a:ext cx="10883392"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New-design clients go back more often</a:t>
            </a:r>
            <a:endParaRPr sz="3200"/>
          </a:p>
        </p:txBody>
      </p:sp>
      <p:sp>
        <p:nvSpPr>
          <p:cNvPr id="151" name="Google Shape;151;p6"/>
          <p:cNvSpPr/>
          <p:nvPr/>
        </p:nvSpPr>
        <p:spPr>
          <a:xfrm>
            <a:off x="812800" y="1849041"/>
            <a:ext cx="3420566" cy="1534120"/>
          </a:xfrm>
          <a:prstGeom prst="roundRect">
            <a:avLst>
              <a:gd fmla="val 4967" name="adj"/>
            </a:avLst>
          </a:prstGeom>
          <a:solidFill>
            <a:srgbClr val="FFF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812800" y="1849041"/>
            <a:ext cx="3420566" cy="1534120"/>
          </a:xfrm>
          <a:custGeom>
            <a:rect b="b" l="l" r="r" t="t"/>
            <a:pathLst>
              <a:path extrusionOk="0" h="1534120" w="3420566">
                <a:moveTo>
                  <a:pt x="0" y="76200"/>
                </a:moveTo>
                <a:lnTo>
                  <a:pt x="0" y="76200"/>
                </a:lnTo>
                <a:cubicBezTo>
                  <a:pt x="0" y="34116"/>
                  <a:pt x="34116" y="0"/>
                  <a:pt x="76200" y="0"/>
                </a:cubicBezTo>
                <a:lnTo>
                  <a:pt x="3344366" y="0"/>
                </a:lnTo>
                <a:cubicBezTo>
                  <a:pt x="3364575" y="0"/>
                  <a:pt x="3383957" y="8028"/>
                  <a:pt x="3398248" y="22318"/>
                </a:cubicBezTo>
                <a:cubicBezTo>
                  <a:pt x="3412538" y="36609"/>
                  <a:pt x="3420566" y="55991"/>
                  <a:pt x="3420566" y="76200"/>
                </a:cubicBezTo>
                <a:lnTo>
                  <a:pt x="3420566" y="76200"/>
                </a:lnTo>
                <a:cubicBezTo>
                  <a:pt x="3420566" y="62172"/>
                  <a:pt x="3386450" y="50800"/>
                  <a:pt x="3344366" y="50800"/>
                </a:cubicBezTo>
                <a:lnTo>
                  <a:pt x="76200" y="50800"/>
                </a:lnTo>
                <a:cubicBezTo>
                  <a:pt x="34116" y="50800"/>
                  <a:pt x="0" y="62172"/>
                  <a:pt x="0" y="76200"/>
                </a:cubicBezTo>
                <a:close/>
              </a:path>
            </a:pathLst>
          </a:custGeom>
          <a:solidFill>
            <a:srgbClr val="2F5D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1066800" y="2153841"/>
            <a:ext cx="2999943"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2F5D9E"/>
              </a:buClr>
              <a:buSzPts val="1600"/>
              <a:buFont typeface="IBM Plex Sans"/>
              <a:buNone/>
            </a:pPr>
            <a:r>
              <a:rPr b="1" i="0" lang="en-US" sz="1600" u="none" cap="none" strike="noStrike">
                <a:solidFill>
                  <a:srgbClr val="2F5D9E"/>
                </a:solidFill>
                <a:latin typeface="IBM Plex Sans"/>
                <a:ea typeface="IBM Plex Sans"/>
                <a:cs typeface="IBM Plex Sans"/>
                <a:sym typeface="IBM Plex Sans"/>
              </a:rPr>
              <a:t>Control</a:t>
            </a:r>
            <a:endParaRPr b="0" i="0" sz="1600" u="none" cap="none" strike="noStrike">
              <a:solidFill>
                <a:schemeClr val="dk1"/>
              </a:solidFill>
              <a:latin typeface="IBM Plex Sans"/>
              <a:ea typeface="IBM Plex Sans"/>
              <a:cs typeface="IBM Plex Sans"/>
              <a:sym typeface="IBM Plex Sans"/>
            </a:endParaRPr>
          </a:p>
        </p:txBody>
      </p:sp>
      <p:sp>
        <p:nvSpPr>
          <p:cNvPr id="154" name="Google Shape;154;p6"/>
          <p:cNvSpPr/>
          <p:nvPr/>
        </p:nvSpPr>
        <p:spPr>
          <a:xfrm>
            <a:off x="1066800" y="2489101"/>
            <a:ext cx="2999943" cy="6654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3600"/>
              <a:buFont typeface="Source Serif 4"/>
              <a:buNone/>
            </a:pPr>
            <a:r>
              <a:rPr b="1" i="0" lang="en-US" sz="3600" u="none" cap="none" strike="noStrike">
                <a:solidFill>
                  <a:srgbClr val="14213D"/>
                </a:solidFill>
                <a:latin typeface="Source Serif 4"/>
                <a:ea typeface="Source Serif 4"/>
                <a:cs typeface="Source Serif 4"/>
                <a:sym typeface="Source Serif 4"/>
              </a:rPr>
              <a:t>6.9%</a:t>
            </a:r>
            <a:endParaRPr b="0" i="0" sz="3600" u="none" cap="none" strike="noStrike">
              <a:solidFill>
                <a:schemeClr val="dk1"/>
              </a:solidFill>
              <a:latin typeface="IBM Plex Sans"/>
              <a:ea typeface="IBM Plex Sans"/>
              <a:cs typeface="IBM Plex Sans"/>
              <a:sym typeface="IBM Plex Sans"/>
            </a:endParaRPr>
          </a:p>
        </p:txBody>
      </p:sp>
      <p:sp>
        <p:nvSpPr>
          <p:cNvPr id="155" name="Google Shape;155;p6"/>
          <p:cNvSpPr/>
          <p:nvPr/>
        </p:nvSpPr>
        <p:spPr>
          <a:xfrm>
            <a:off x="812800" y="3535561"/>
            <a:ext cx="3420566" cy="1534120"/>
          </a:xfrm>
          <a:prstGeom prst="roundRect">
            <a:avLst>
              <a:gd fmla="val 4967" name="adj"/>
            </a:avLst>
          </a:prstGeom>
          <a:solidFill>
            <a:srgbClr val="FFF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812800" y="3535561"/>
            <a:ext cx="3420566" cy="1534120"/>
          </a:xfrm>
          <a:custGeom>
            <a:rect b="b" l="l" r="r" t="t"/>
            <a:pathLst>
              <a:path extrusionOk="0" h="1534120" w="3420566">
                <a:moveTo>
                  <a:pt x="0" y="76200"/>
                </a:moveTo>
                <a:lnTo>
                  <a:pt x="0" y="76200"/>
                </a:lnTo>
                <a:cubicBezTo>
                  <a:pt x="0" y="34116"/>
                  <a:pt x="34116" y="0"/>
                  <a:pt x="76200" y="0"/>
                </a:cubicBezTo>
                <a:lnTo>
                  <a:pt x="3344366" y="0"/>
                </a:lnTo>
                <a:cubicBezTo>
                  <a:pt x="3364575" y="0"/>
                  <a:pt x="3383957" y="8028"/>
                  <a:pt x="3398248" y="22318"/>
                </a:cubicBezTo>
                <a:cubicBezTo>
                  <a:pt x="3412538" y="36609"/>
                  <a:pt x="3420566" y="55991"/>
                  <a:pt x="3420566" y="76200"/>
                </a:cubicBezTo>
                <a:lnTo>
                  <a:pt x="3420566" y="76200"/>
                </a:lnTo>
                <a:cubicBezTo>
                  <a:pt x="3420566" y="62172"/>
                  <a:pt x="3386450" y="50800"/>
                  <a:pt x="3344366" y="50800"/>
                </a:cubicBezTo>
                <a:lnTo>
                  <a:pt x="76200" y="50800"/>
                </a:lnTo>
                <a:cubicBezTo>
                  <a:pt x="34116" y="50800"/>
                  <a:pt x="0" y="62172"/>
                  <a:pt x="0" y="76200"/>
                </a:cubicBezTo>
                <a:close/>
              </a:path>
            </a:pathLst>
          </a:custGeom>
          <a:solidFill>
            <a:srgbClr val="D97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1066800" y="3840361"/>
            <a:ext cx="2999943"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61A"/>
              </a:buClr>
              <a:buSzPts val="1600"/>
              <a:buFont typeface="IBM Plex Sans"/>
              <a:buNone/>
            </a:pPr>
            <a:r>
              <a:rPr b="1" i="0" lang="en-US" sz="1600" u="none" cap="none" strike="noStrike">
                <a:solidFill>
                  <a:srgbClr val="B4561A"/>
                </a:solidFill>
                <a:latin typeface="IBM Plex Sans"/>
                <a:ea typeface="IBM Plex Sans"/>
                <a:cs typeface="IBM Plex Sans"/>
                <a:sym typeface="IBM Plex Sans"/>
              </a:rPr>
              <a:t>Test</a:t>
            </a:r>
            <a:endParaRPr b="0" i="0" sz="1600" u="none" cap="none" strike="noStrike">
              <a:solidFill>
                <a:schemeClr val="dk1"/>
              </a:solidFill>
              <a:latin typeface="IBM Plex Sans"/>
              <a:ea typeface="IBM Plex Sans"/>
              <a:cs typeface="IBM Plex Sans"/>
              <a:sym typeface="IBM Plex Sans"/>
            </a:endParaRPr>
          </a:p>
        </p:txBody>
      </p:sp>
      <p:sp>
        <p:nvSpPr>
          <p:cNvPr id="158" name="Google Shape;158;p6"/>
          <p:cNvSpPr/>
          <p:nvPr/>
        </p:nvSpPr>
        <p:spPr>
          <a:xfrm>
            <a:off x="1066800" y="4175621"/>
            <a:ext cx="2999943" cy="6654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3600"/>
              <a:buFont typeface="Source Serif 4"/>
              <a:buNone/>
            </a:pPr>
            <a:r>
              <a:rPr b="1" i="0" lang="en-US" sz="3600" u="none" cap="none" strike="noStrike">
                <a:solidFill>
                  <a:srgbClr val="14213D"/>
                </a:solidFill>
                <a:latin typeface="Source Serif 4"/>
                <a:ea typeface="Source Serif 4"/>
                <a:cs typeface="Source Serif 4"/>
                <a:sym typeface="Source Serif 4"/>
              </a:rPr>
              <a:t>9.25%</a:t>
            </a:r>
            <a:endParaRPr b="0" i="0" sz="3600" u="none" cap="none" strike="noStrike">
              <a:solidFill>
                <a:schemeClr val="dk1"/>
              </a:solidFill>
              <a:latin typeface="IBM Plex Sans"/>
              <a:ea typeface="IBM Plex Sans"/>
              <a:cs typeface="IBM Plex Sans"/>
              <a:sym typeface="IBM Plex Sans"/>
            </a:endParaRPr>
          </a:p>
        </p:txBody>
      </p:sp>
      <p:sp>
        <p:nvSpPr>
          <p:cNvPr id="159" name="Google Shape;159;p6"/>
          <p:cNvSpPr/>
          <p:nvPr/>
        </p:nvSpPr>
        <p:spPr>
          <a:xfrm>
            <a:off x="4538166" y="1849041"/>
            <a:ext cx="7046265" cy="2691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600"/>
              <a:buFont typeface="IBM Plex Sans"/>
              <a:buNone/>
            </a:pPr>
            <a:r>
              <a:rPr b="1" i="0" lang="en-US" sz="1600" u="none" cap="none" strike="noStrike">
                <a:solidFill>
                  <a:srgbClr val="14213D"/>
                </a:solidFill>
                <a:latin typeface="IBM Plex Sans"/>
                <a:ea typeface="IBM Plex Sans"/>
                <a:cs typeface="IBM Plex Sans"/>
                <a:sym typeface="IBM Plex Sans"/>
              </a:rPr>
              <a:t>Backward moves, by the step clients went back to</a:t>
            </a:r>
            <a:endParaRPr b="0" i="0" sz="1600" u="none" cap="none" strike="noStrike">
              <a:solidFill>
                <a:schemeClr val="dk1"/>
              </a:solidFill>
              <a:latin typeface="IBM Plex Sans"/>
              <a:ea typeface="IBM Plex Sans"/>
              <a:cs typeface="IBM Plex Sans"/>
              <a:sym typeface="IBM Plex Sans"/>
            </a:endParaRPr>
          </a:p>
        </p:txBody>
      </p:sp>
      <p:graphicFrame>
        <p:nvGraphicFramePr>
          <p:cNvPr id="160" name="Google Shape;160;p6"/>
          <p:cNvGraphicFramePr/>
          <p:nvPr/>
        </p:nvGraphicFramePr>
        <p:xfrm>
          <a:off x="4550866" y="2257921"/>
          <a:ext cx="3000000" cy="3000000"/>
        </p:xfrm>
        <a:graphic>
          <a:graphicData uri="http://schemas.openxmlformats.org/drawingml/2006/table">
            <a:tbl>
              <a:tblPr>
                <a:noFill/>
                <a:tableStyleId>{79DEBDC5-9959-478B-8C66-EB90CEECB7AA}</a:tableStyleId>
              </a:tblPr>
              <a:tblGrid>
                <a:gridCol w="2321625"/>
                <a:gridCol w="2253350"/>
                <a:gridCol w="2253350"/>
              </a:tblGrid>
              <a:tr h="385950">
                <a:tc>
                  <a:txBody>
                    <a:bodyPr/>
                    <a:lstStyle/>
                    <a:p>
                      <a:pPr indent="0" lvl="0" marL="0" marR="0" rtl="0" algn="l">
                        <a:lnSpc>
                          <a:spcPct val="140000"/>
                        </a:lnSpc>
                        <a:spcBef>
                          <a:spcPts val="0"/>
                        </a:spcBef>
                        <a:spcAft>
                          <a:spcPts val="0"/>
                        </a:spcAft>
                        <a:buClr>
                          <a:srgbClr val="1F2A44"/>
                        </a:buClr>
                        <a:buSzPts val="1400"/>
                        <a:buFont typeface="IBM Plex Sans"/>
                        <a:buNone/>
                      </a:pPr>
                      <a:r>
                        <a:rPr b="1" lang="en-US" sz="1400" u="none" cap="none" strike="noStrike">
                          <a:solidFill>
                            <a:srgbClr val="1F2A44"/>
                          </a:solidFill>
                          <a:latin typeface="IBM Plex Sans"/>
                          <a:ea typeface="IBM Plex Sans"/>
                          <a:cs typeface="IBM Plex Sans"/>
                          <a:sym typeface="IBM Plex Sans"/>
                        </a:rPr>
                        <a:t>Step</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B7B5B1"/>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7B5B1"/>
                      </a:solidFill>
                      <a:prstDash val="solid"/>
                      <a:round/>
                      <a:headEnd len="sm" w="sm" type="none"/>
                      <a:tailEnd len="sm" w="sm" type="none"/>
                    </a:lnB>
                    <a:solidFill>
                      <a:srgbClr val="E5E3DE"/>
                    </a:solidFill>
                  </a:tcPr>
                </a:tc>
                <a:tc>
                  <a:txBody>
                    <a:bodyPr/>
                    <a:lstStyle/>
                    <a:p>
                      <a:pPr indent="0" lvl="0" marL="0" marR="0" rtl="0" algn="r">
                        <a:lnSpc>
                          <a:spcPct val="140000"/>
                        </a:lnSpc>
                        <a:spcBef>
                          <a:spcPts val="0"/>
                        </a:spcBef>
                        <a:spcAft>
                          <a:spcPts val="0"/>
                        </a:spcAft>
                        <a:buClr>
                          <a:srgbClr val="1F2A44"/>
                        </a:buClr>
                        <a:buSzPts val="1400"/>
                        <a:buFont typeface="IBM Plex Sans"/>
                        <a:buNone/>
                      </a:pPr>
                      <a:r>
                        <a:rPr b="1" lang="en-US" sz="1400" u="none" cap="none" strike="noStrike">
                          <a:solidFill>
                            <a:srgbClr val="1F2A44"/>
                          </a:solidFill>
                          <a:latin typeface="IBM Plex Sans"/>
                          <a:ea typeface="IBM Plex Sans"/>
                          <a:cs typeface="IBM Plex Sans"/>
                          <a:sym typeface="IBM Plex Sans"/>
                        </a:rPr>
                        <a:t>Control</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5B1"/>
                      </a:solidFill>
                      <a:prstDash val="solid"/>
                      <a:round/>
                      <a:headEnd len="sm" w="sm" type="none"/>
                      <a:tailEnd len="sm" w="sm" type="none"/>
                    </a:lnL>
                    <a:lnR cap="flat" cmpd="sng" w="12700">
                      <a:solidFill>
                        <a:srgbClr val="B7B5B1"/>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7B5B1"/>
                      </a:solidFill>
                      <a:prstDash val="solid"/>
                      <a:round/>
                      <a:headEnd len="sm" w="sm" type="none"/>
                      <a:tailEnd len="sm" w="sm" type="none"/>
                    </a:lnB>
                    <a:solidFill>
                      <a:srgbClr val="E5E3DE"/>
                    </a:solidFill>
                  </a:tcPr>
                </a:tc>
                <a:tc>
                  <a:txBody>
                    <a:bodyPr/>
                    <a:lstStyle/>
                    <a:p>
                      <a:pPr indent="0" lvl="0" marL="0" marR="0" rtl="0" algn="r">
                        <a:lnSpc>
                          <a:spcPct val="140000"/>
                        </a:lnSpc>
                        <a:spcBef>
                          <a:spcPts val="0"/>
                        </a:spcBef>
                        <a:spcAft>
                          <a:spcPts val="0"/>
                        </a:spcAft>
                        <a:buClr>
                          <a:srgbClr val="1F2A44"/>
                        </a:buClr>
                        <a:buSzPts val="1400"/>
                        <a:buFont typeface="IBM Plex Sans"/>
                        <a:buNone/>
                      </a:pPr>
                      <a:r>
                        <a:rPr b="1" lang="en-US" sz="1400" u="none" cap="none" strike="noStrike">
                          <a:solidFill>
                            <a:srgbClr val="1F2A44"/>
                          </a:solidFill>
                          <a:latin typeface="IBM Plex Sans"/>
                          <a:ea typeface="IBM Plex Sans"/>
                          <a:cs typeface="IBM Plex Sans"/>
                          <a:sym typeface="IBM Plex Sans"/>
                        </a:rPr>
                        <a:t>Test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B7B5B1"/>
                      </a:solidFill>
                      <a:prstDash val="solid"/>
                      <a:round/>
                      <a:headEnd len="sm" w="sm" type="none"/>
                      <a:tailEnd len="sm" w="sm" type="none"/>
                    </a:lnL>
                    <a:lnR cap="flat" cmpd="sng" w="12700">
                      <a:solidFill>
                        <a:srgbClr val="B7B5B1"/>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B7B5B1"/>
                      </a:solidFill>
                      <a:prstDash val="solid"/>
                      <a:round/>
                      <a:headEnd len="sm" w="sm" type="none"/>
                      <a:tailEnd len="sm" w="sm" type="none"/>
                    </a:lnB>
                    <a:solidFill>
                      <a:srgbClr val="E5E3DE"/>
                    </a:solidFill>
                  </a:tcPr>
                </a:tc>
              </a:tr>
              <a:tr h="385950">
                <a:tc>
                  <a:txBody>
                    <a:bodyPr/>
                    <a:lstStyle/>
                    <a:p>
                      <a:pPr indent="0" lvl="0" marL="0" marR="0" rtl="0" algn="l">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start</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4B09F"/>
                      </a:solidFill>
                      <a:prstDash val="solid"/>
                      <a:round/>
                      <a:headEnd len="sm" w="sm" type="none"/>
                      <a:tailEnd len="sm" w="sm" type="none"/>
                    </a:lnR>
                    <a:lnT cap="flat" cmpd="sng" w="12700">
                      <a:solidFill>
                        <a:srgbClr val="B7B5B1"/>
                      </a:solidFill>
                      <a:prstDash val="solid"/>
                      <a:round/>
                      <a:headEnd len="sm" w="sm" type="none"/>
                      <a:tailEnd len="sm" w="sm" type="none"/>
                    </a:lnT>
                    <a:lnB cap="flat" cmpd="sng" w="12700">
                      <a:solidFill>
                        <a:srgbClr val="C4B09F"/>
                      </a:solidFill>
                      <a:prstDash val="solid"/>
                      <a:round/>
                      <a:headEnd len="sm" w="sm" type="none"/>
                      <a:tailEnd len="sm" w="sm" type="none"/>
                    </a:lnB>
                    <a:solidFill>
                      <a:srgbClr val="F6DCC6"/>
                    </a:solidFill>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10.9%</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B09F"/>
                      </a:solidFill>
                      <a:prstDash val="solid"/>
                      <a:round/>
                      <a:headEnd len="sm" w="sm" type="none"/>
                      <a:tailEnd len="sm" w="sm" type="none"/>
                    </a:lnL>
                    <a:lnR cap="flat" cmpd="sng" w="12700">
                      <a:solidFill>
                        <a:srgbClr val="C4B09F"/>
                      </a:solidFill>
                      <a:prstDash val="solid"/>
                      <a:round/>
                      <a:headEnd len="sm" w="sm" type="none"/>
                      <a:tailEnd len="sm" w="sm" type="none"/>
                    </a:lnR>
                    <a:lnT cap="flat" cmpd="sng" w="12700">
                      <a:solidFill>
                        <a:srgbClr val="B7B5B1"/>
                      </a:solidFill>
                      <a:prstDash val="solid"/>
                      <a:round/>
                      <a:headEnd len="sm" w="sm" type="none"/>
                      <a:tailEnd len="sm" w="sm" type="none"/>
                    </a:lnT>
                    <a:lnB cap="flat" cmpd="sng" w="12700">
                      <a:solidFill>
                        <a:srgbClr val="C4B09F"/>
                      </a:solidFill>
                      <a:prstDash val="solid"/>
                      <a:round/>
                      <a:headEnd len="sm" w="sm" type="none"/>
                      <a:tailEnd len="sm" w="sm" type="none"/>
                    </a:lnB>
                    <a:solidFill>
                      <a:srgbClr val="F6DCC6"/>
                    </a:solidFill>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19.0%</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4B09F"/>
                      </a:solidFill>
                      <a:prstDash val="solid"/>
                      <a:round/>
                      <a:headEnd len="sm" w="sm" type="none"/>
                      <a:tailEnd len="sm" w="sm" type="none"/>
                    </a:lnL>
                    <a:lnR cap="flat" cmpd="sng" w="12700">
                      <a:solidFill>
                        <a:srgbClr val="C4B09F"/>
                      </a:solidFill>
                      <a:prstDash val="solid"/>
                      <a:round/>
                      <a:headEnd len="sm" w="sm" type="none"/>
                      <a:tailEnd len="sm" w="sm" type="none"/>
                    </a:lnR>
                    <a:lnT cap="flat" cmpd="sng" w="12700">
                      <a:solidFill>
                        <a:srgbClr val="B7B5B1"/>
                      </a:solidFill>
                      <a:prstDash val="solid"/>
                      <a:round/>
                      <a:headEnd len="sm" w="sm" type="none"/>
                      <a:tailEnd len="sm" w="sm" type="none"/>
                    </a:lnT>
                    <a:lnB cap="flat" cmpd="sng" w="12700">
                      <a:solidFill>
                        <a:srgbClr val="C4B09F"/>
                      </a:solidFill>
                      <a:prstDash val="solid"/>
                      <a:round/>
                      <a:headEnd len="sm" w="sm" type="none"/>
                      <a:tailEnd len="sm" w="sm" type="none"/>
                    </a:lnB>
                    <a:solidFill>
                      <a:srgbClr val="F6DCC6"/>
                    </a:solidFill>
                  </a:tcPr>
                </a:tc>
              </a:tr>
              <a:tr h="385950">
                <a:tc>
                  <a:txBody>
                    <a:bodyPr/>
                    <a:lstStyle/>
                    <a:p>
                      <a:pPr indent="0" lvl="0" marL="0" marR="0" rtl="0" algn="l">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step 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4B09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7.8%</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4B09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8.8%</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4B09F"/>
                      </a:solidFill>
                      <a:prstDash val="solid"/>
                      <a:round/>
                      <a:headEnd len="sm" w="sm" type="none"/>
                      <a:tailEnd len="sm" w="sm" type="none"/>
                    </a:lnT>
                    <a:lnB cap="flat" cmpd="sng" w="12700">
                      <a:solidFill>
                        <a:srgbClr val="C5C4BF"/>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step 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9.2%</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7.4%</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r>
              <a:tr h="385950">
                <a:tc>
                  <a:txBody>
                    <a:bodyPr/>
                    <a:lstStyle/>
                    <a:p>
                      <a:pPr indent="0" lvl="0" marL="0" marR="0" rtl="0" algn="l">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step 3</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0.4%</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c>
                  <a:txBody>
                    <a:bodyPr/>
                    <a:lstStyle/>
                    <a:p>
                      <a:pPr indent="0" lvl="0" marL="0" marR="0" rtl="0" algn="r">
                        <a:lnSpc>
                          <a:spcPct val="140000"/>
                        </a:lnSpc>
                        <a:spcBef>
                          <a:spcPts val="0"/>
                        </a:spcBef>
                        <a:spcAft>
                          <a:spcPts val="0"/>
                        </a:spcAft>
                        <a:buClr>
                          <a:srgbClr val="1F2A44"/>
                        </a:buClr>
                        <a:buSzPts val="1400"/>
                        <a:buFont typeface="IBM Plex Sans"/>
                        <a:buNone/>
                      </a:pPr>
                      <a:r>
                        <a:rPr lang="en-US" sz="1400" u="none" cap="none" strike="noStrike">
                          <a:solidFill>
                            <a:srgbClr val="1F2A44"/>
                          </a:solidFill>
                          <a:latin typeface="IBM Plex Sans"/>
                          <a:ea typeface="IBM Plex Sans"/>
                          <a:cs typeface="IBM Plex Sans"/>
                          <a:sym typeface="IBM Plex Sans"/>
                        </a:rPr>
                        <a:t>0.1%</a:t>
                      </a:r>
                      <a:endParaRPr sz="1400" u="none" cap="none" strike="noStrike">
                        <a:latin typeface="IBM Plex Sans"/>
                        <a:ea typeface="IBM Plex Sans"/>
                        <a:cs typeface="IBM Plex Sans"/>
                        <a:sym typeface="IBM Plex Sans"/>
                      </a:endParaRPr>
                    </a:p>
                  </a:txBody>
                  <a:tcPr marT="62225" marB="62225" marR="62225" marL="62225">
                    <a:lnL cap="flat" cmpd="sng" w="12700">
                      <a:solidFill>
                        <a:srgbClr val="C5C4BF"/>
                      </a:solidFill>
                      <a:prstDash val="solid"/>
                      <a:round/>
                      <a:headEnd len="sm" w="sm" type="none"/>
                      <a:tailEnd len="sm" w="sm" type="none"/>
                    </a:lnL>
                    <a:lnR cap="flat" cmpd="sng" w="12700">
                      <a:solidFill>
                        <a:srgbClr val="C5C4BF"/>
                      </a:solidFill>
                      <a:prstDash val="solid"/>
                      <a:round/>
                      <a:headEnd len="sm" w="sm" type="none"/>
                      <a:tailEnd len="sm" w="sm" type="none"/>
                    </a:lnR>
                    <a:lnT cap="flat" cmpd="sng" w="12700">
                      <a:solidFill>
                        <a:srgbClr val="C5C4BF"/>
                      </a:solidFill>
                      <a:prstDash val="solid"/>
                      <a:round/>
                      <a:headEnd len="sm" w="sm" type="none"/>
                      <a:tailEnd len="sm" w="sm" type="none"/>
                    </a:lnT>
                    <a:lnB cap="flat" cmpd="sng" w="12700">
                      <a:solidFill>
                        <a:srgbClr val="C5C4BF"/>
                      </a:solidFill>
                      <a:prstDash val="solid"/>
                      <a:round/>
                      <a:headEnd len="sm" w="sm" type="none"/>
                      <a:tailEnd len="sm" w="sm" type="none"/>
                    </a:lnB>
                  </a:tcPr>
                </a:tc>
              </a:tr>
            </a:tbl>
          </a:graphicData>
        </a:graphic>
      </p:graphicFrame>
      <p:sp>
        <p:nvSpPr>
          <p:cNvPr id="161" name="Google Shape;161;p6"/>
          <p:cNvSpPr/>
          <p:nvPr/>
        </p:nvSpPr>
        <p:spPr>
          <a:xfrm>
            <a:off x="4538166" y="4340126"/>
            <a:ext cx="7046265"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Error = a client moves back to an earlier step in the same visit. Rate = share of all web events.</a:t>
            </a:r>
            <a:endParaRPr b="0" i="0" sz="1400" u="none" cap="none" strike="noStrike">
              <a:solidFill>
                <a:schemeClr val="dk1"/>
              </a:solidFill>
              <a:latin typeface="IBM Plex Sans"/>
              <a:ea typeface="IBM Plex Sans"/>
              <a:cs typeface="IBM Plex Sans"/>
              <a:sym typeface="IBM Plex Sans"/>
            </a:endParaRPr>
          </a:p>
        </p:txBody>
      </p:sp>
      <p:sp>
        <p:nvSpPr>
          <p:cNvPr id="162" name="Google Shape;162;p6"/>
          <p:cNvSpPr/>
          <p:nvPr/>
        </p:nvSpPr>
        <p:spPr>
          <a:xfrm>
            <a:off x="10893544" y="6236990"/>
            <a:ext cx="485656"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68"/>
              </a:buClr>
              <a:buSzPts val="1200"/>
              <a:buFont typeface="IBM Plex Sans"/>
              <a:buNone/>
            </a:pPr>
            <a:r>
              <a:rPr lang="en-US" sz="1200">
                <a:solidFill>
                  <a:srgbClr val="4A5568"/>
                </a:solidFill>
                <a:latin typeface="IBM Plex Sans"/>
                <a:ea typeface="IBM Plex Sans"/>
                <a:cs typeface="IBM Plex Sans"/>
                <a:sym typeface="IBM Plex Sans"/>
              </a:rPr>
              <a:t>7</a:t>
            </a:r>
            <a:r>
              <a:rPr b="0" i="0" lang="en-US" sz="1200" u="none" cap="none" strike="noStrike">
                <a:solidFill>
                  <a:srgbClr val="4A5568"/>
                </a:solidFill>
                <a:latin typeface="IBM Plex Sans"/>
                <a:ea typeface="IBM Plex Sans"/>
                <a:cs typeface="IBM Plex Sans"/>
                <a:sym typeface="IBM Plex Sans"/>
              </a:rPr>
              <a:t>/ 12</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167" name="Shape 167"/>
        <p:cNvGrpSpPr/>
        <p:nvPr/>
      </p:nvGrpSpPr>
      <p:grpSpPr>
        <a:xfrm>
          <a:off x="0" y="0"/>
          <a:ext cx="0" cy="0"/>
          <a:chOff x="0" y="0"/>
          <a:chExt cx="0" cy="0"/>
        </a:xfrm>
      </p:grpSpPr>
      <p:sp>
        <p:nvSpPr>
          <p:cNvPr id="168" name="Google Shape;168;p7"/>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61A"/>
              </a:buClr>
              <a:buSzPts val="1200"/>
              <a:buFont typeface="IBM Plex Sans"/>
              <a:buNone/>
            </a:pPr>
            <a:r>
              <a:rPr b="0" i="0" lang="en-US" sz="1200" u="none" cap="none" strike="noStrike">
                <a:solidFill>
                  <a:srgbClr val="B4561A"/>
                </a:solidFill>
                <a:latin typeface="IBM Plex Sans"/>
                <a:ea typeface="IBM Plex Sans"/>
                <a:cs typeface="IBM Plex Sans"/>
                <a:sym typeface="IBM Plex Sans"/>
              </a:rPr>
              <a:t>THE 5% COST-EFFECTIVENESS THRESHOLD</a:t>
            </a:r>
            <a:endParaRPr b="0" i="0" sz="1200" u="none" cap="none" strike="noStrike">
              <a:solidFill>
                <a:schemeClr val="dk1"/>
              </a:solidFill>
              <a:latin typeface="IBM Plex Sans"/>
              <a:ea typeface="IBM Plex Sans"/>
              <a:cs typeface="IBM Plex Sans"/>
              <a:sym typeface="IBM Plex Sans"/>
            </a:endParaRPr>
          </a:p>
        </p:txBody>
      </p:sp>
      <p:sp>
        <p:nvSpPr>
          <p:cNvPr id="169" name="Google Shape;169;p7"/>
          <p:cNvSpPr txBox="1"/>
          <p:nvPr>
            <p:ph type="title"/>
          </p:nvPr>
        </p:nvSpPr>
        <p:spPr>
          <a:xfrm>
            <a:off x="812800" y="1076920"/>
            <a:ext cx="10883392"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Significant, but not big enough</a:t>
            </a:r>
            <a:endParaRPr sz="3200"/>
          </a:p>
        </p:txBody>
      </p:sp>
      <p:sp>
        <p:nvSpPr>
          <p:cNvPr id="170" name="Google Shape;170;p7"/>
          <p:cNvSpPr/>
          <p:nvPr/>
        </p:nvSpPr>
        <p:spPr>
          <a:xfrm>
            <a:off x="812800" y="1909961"/>
            <a:ext cx="1962150"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600"/>
              <a:buFont typeface="IBM Plex Sans"/>
              <a:buNone/>
            </a:pPr>
            <a:r>
              <a:rPr b="0" i="0" lang="en-US" sz="1600" u="none" cap="none" strike="noStrike">
                <a:solidFill>
                  <a:srgbClr val="1F2A44"/>
                </a:solidFill>
                <a:latin typeface="IBM Plex Sans"/>
                <a:ea typeface="IBM Plex Sans"/>
                <a:cs typeface="IBM Plex Sans"/>
                <a:sym typeface="IBM Plex Sans"/>
              </a:rPr>
              <a:t>Control</a:t>
            </a:r>
            <a:endParaRPr b="0" i="0" sz="1600" u="none" cap="none" strike="noStrike">
              <a:solidFill>
                <a:schemeClr val="dk1"/>
              </a:solidFill>
              <a:latin typeface="IBM Plex Sans"/>
              <a:ea typeface="IBM Plex Sans"/>
              <a:cs typeface="IBM Plex Sans"/>
              <a:sym typeface="IBM Plex Sans"/>
            </a:endParaRPr>
          </a:p>
        </p:txBody>
      </p:sp>
      <p:sp>
        <p:nvSpPr>
          <p:cNvPr id="171" name="Google Shape;171;p7"/>
          <p:cNvSpPr/>
          <p:nvPr/>
        </p:nvSpPr>
        <p:spPr>
          <a:xfrm>
            <a:off x="2870200" y="1849041"/>
            <a:ext cx="5899150" cy="406400"/>
          </a:xfrm>
          <a:prstGeom prst="roundRect">
            <a:avLst>
              <a:gd fmla="val 9375" name="adj"/>
            </a:avLst>
          </a:prstGeom>
          <a:solidFill>
            <a:srgbClr val="2F5D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p:nvPr/>
        </p:nvSpPr>
        <p:spPr>
          <a:xfrm>
            <a:off x="8921750" y="1909961"/>
            <a:ext cx="892254"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600"/>
              <a:buFont typeface="IBM Plex Sans"/>
              <a:buNone/>
            </a:pPr>
            <a:r>
              <a:rPr b="1" i="0" lang="en-US" sz="1600" u="none" cap="none" strike="noStrike">
                <a:solidFill>
                  <a:srgbClr val="1F2A44"/>
                </a:solidFill>
                <a:latin typeface="IBM Plex Sans"/>
                <a:ea typeface="IBM Plex Sans"/>
                <a:cs typeface="IBM Plex Sans"/>
                <a:sym typeface="IBM Plex Sans"/>
              </a:rPr>
              <a:t>65.58%</a:t>
            </a:r>
            <a:endParaRPr b="0" i="0" sz="1600" u="none" cap="none" strike="noStrike">
              <a:solidFill>
                <a:schemeClr val="dk1"/>
              </a:solidFill>
              <a:latin typeface="IBM Plex Sans"/>
              <a:ea typeface="IBM Plex Sans"/>
              <a:cs typeface="IBM Plex Sans"/>
              <a:sym typeface="IBM Plex Sans"/>
            </a:endParaRPr>
          </a:p>
        </p:txBody>
      </p:sp>
      <p:sp>
        <p:nvSpPr>
          <p:cNvPr id="173" name="Google Shape;173;p7"/>
          <p:cNvSpPr/>
          <p:nvPr/>
        </p:nvSpPr>
        <p:spPr>
          <a:xfrm>
            <a:off x="812800" y="2468761"/>
            <a:ext cx="1962150"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600"/>
              <a:buFont typeface="IBM Plex Sans"/>
              <a:buNone/>
            </a:pPr>
            <a:r>
              <a:rPr b="0" i="0" lang="en-US" sz="1600" u="none" cap="none" strike="noStrike">
                <a:solidFill>
                  <a:srgbClr val="1F2A44"/>
                </a:solidFill>
                <a:latin typeface="IBM Plex Sans"/>
                <a:ea typeface="IBM Plex Sans"/>
                <a:cs typeface="IBM Plex Sans"/>
                <a:sym typeface="IBM Plex Sans"/>
              </a:rPr>
              <a:t>Test</a:t>
            </a:r>
            <a:endParaRPr b="0" i="0" sz="1600" u="none" cap="none" strike="noStrike">
              <a:solidFill>
                <a:schemeClr val="dk1"/>
              </a:solidFill>
              <a:latin typeface="IBM Plex Sans"/>
              <a:ea typeface="IBM Plex Sans"/>
              <a:cs typeface="IBM Plex Sans"/>
              <a:sym typeface="IBM Plex Sans"/>
            </a:endParaRPr>
          </a:p>
        </p:txBody>
      </p:sp>
      <p:sp>
        <p:nvSpPr>
          <p:cNvPr id="174" name="Google Shape;174;p7"/>
          <p:cNvSpPr/>
          <p:nvPr/>
        </p:nvSpPr>
        <p:spPr>
          <a:xfrm>
            <a:off x="2870200" y="2407841"/>
            <a:ext cx="6235700" cy="406400"/>
          </a:xfrm>
          <a:prstGeom prst="roundRect">
            <a:avLst>
              <a:gd fmla="val 9375" name="adj"/>
            </a:avLst>
          </a:prstGeom>
          <a:solidFill>
            <a:srgbClr val="D97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
          <p:cNvSpPr/>
          <p:nvPr/>
        </p:nvSpPr>
        <p:spPr>
          <a:xfrm>
            <a:off x="9258300" y="2468761"/>
            <a:ext cx="892254"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600"/>
              <a:buFont typeface="IBM Plex Sans"/>
              <a:buNone/>
            </a:pPr>
            <a:r>
              <a:rPr b="1" i="0" lang="en-US" sz="1600" u="none" cap="none" strike="noStrike">
                <a:solidFill>
                  <a:srgbClr val="1F2A44"/>
                </a:solidFill>
                <a:latin typeface="IBM Plex Sans"/>
                <a:ea typeface="IBM Plex Sans"/>
                <a:cs typeface="IBM Plex Sans"/>
                <a:sym typeface="IBM Plex Sans"/>
              </a:rPr>
              <a:t>69.29%</a:t>
            </a:r>
            <a:endParaRPr b="0" i="0" sz="1600" u="none" cap="none" strike="noStrike">
              <a:solidFill>
                <a:schemeClr val="dk1"/>
              </a:solidFill>
              <a:latin typeface="IBM Plex Sans"/>
              <a:ea typeface="IBM Plex Sans"/>
              <a:cs typeface="IBM Plex Sans"/>
              <a:sym typeface="IBM Plex Sans"/>
            </a:endParaRPr>
          </a:p>
        </p:txBody>
      </p:sp>
      <p:sp>
        <p:nvSpPr>
          <p:cNvPr id="176" name="Google Shape;176;p7"/>
          <p:cNvSpPr/>
          <p:nvPr/>
        </p:nvSpPr>
        <p:spPr>
          <a:xfrm>
            <a:off x="812800" y="3027561"/>
            <a:ext cx="1962150"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1" i="0" lang="en-US" sz="1600" u="none" cap="none" strike="noStrike">
                <a:solidFill>
                  <a:srgbClr val="14213D"/>
                </a:solidFill>
                <a:latin typeface="IBM Plex Sans"/>
                <a:ea typeface="IBM Plex Sans"/>
                <a:cs typeface="IBM Plex Sans"/>
                <a:sym typeface="IBM Plex Sans"/>
              </a:rPr>
              <a:t>Target needed</a:t>
            </a:r>
            <a:endParaRPr b="0" i="0" sz="1600" u="none" cap="none" strike="noStrike">
              <a:solidFill>
                <a:schemeClr val="dk1"/>
              </a:solidFill>
              <a:latin typeface="IBM Plex Sans"/>
              <a:ea typeface="IBM Plex Sans"/>
              <a:cs typeface="IBM Plex Sans"/>
              <a:sym typeface="IBM Plex Sans"/>
            </a:endParaRPr>
          </a:p>
        </p:txBody>
      </p:sp>
      <p:sp>
        <p:nvSpPr>
          <p:cNvPr id="177" name="Google Shape;177;p7"/>
          <p:cNvSpPr/>
          <p:nvPr/>
        </p:nvSpPr>
        <p:spPr>
          <a:xfrm>
            <a:off x="2879725" y="2976166"/>
            <a:ext cx="6330950" cy="387350"/>
          </a:xfrm>
          <a:prstGeom prst="roundRect">
            <a:avLst>
              <a:gd fmla="val 7377" name="adj"/>
            </a:avLst>
          </a:prstGeom>
          <a:solidFill>
            <a:srgbClr val="FFFDF9"/>
          </a:solidFill>
          <a:ln cap="flat" cmpd="sng" w="19050">
            <a:solidFill>
              <a:srgbClr val="14213D"/>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7"/>
          <p:cNvSpPr/>
          <p:nvPr/>
        </p:nvSpPr>
        <p:spPr>
          <a:xfrm>
            <a:off x="9372600" y="3027561"/>
            <a:ext cx="892254"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4213D"/>
              </a:buClr>
              <a:buSzPts val="1600"/>
              <a:buFont typeface="IBM Plex Sans"/>
              <a:buNone/>
            </a:pPr>
            <a:r>
              <a:rPr b="1" i="0" lang="en-US" sz="1600" u="none" cap="none" strike="noStrike">
                <a:solidFill>
                  <a:srgbClr val="14213D"/>
                </a:solidFill>
                <a:latin typeface="IBM Plex Sans"/>
                <a:ea typeface="IBM Plex Sans"/>
                <a:cs typeface="IBM Plex Sans"/>
                <a:sym typeface="IBM Plex Sans"/>
              </a:rPr>
              <a:t>70.58%</a:t>
            </a:r>
            <a:endParaRPr b="0" i="0" sz="1600" u="none" cap="none" strike="noStrike">
              <a:solidFill>
                <a:schemeClr val="dk1"/>
              </a:solidFill>
              <a:latin typeface="IBM Plex Sans"/>
              <a:ea typeface="IBM Plex Sans"/>
              <a:cs typeface="IBM Plex Sans"/>
              <a:sym typeface="IBM Plex Sans"/>
            </a:endParaRPr>
          </a:p>
        </p:txBody>
      </p:sp>
      <p:sp>
        <p:nvSpPr>
          <p:cNvPr id="179" name="Google Shape;179;p7"/>
          <p:cNvSpPr/>
          <p:nvPr/>
        </p:nvSpPr>
        <p:spPr>
          <a:xfrm>
            <a:off x="812800" y="3677841"/>
            <a:ext cx="5181600" cy="1051421"/>
          </a:xfrm>
          <a:prstGeom prst="roundRect">
            <a:avLst>
              <a:gd fmla="val 7247" name="adj"/>
            </a:avLst>
          </a:prstGeom>
          <a:solidFill>
            <a:srgbClr val="FFF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7"/>
          <p:cNvSpPr/>
          <p:nvPr/>
        </p:nvSpPr>
        <p:spPr>
          <a:xfrm>
            <a:off x="1066800" y="3931841"/>
            <a:ext cx="4813808" cy="2691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1600"/>
              <a:buFont typeface="IBM Plex Sans"/>
              <a:buNone/>
            </a:pPr>
            <a:r>
              <a:rPr b="1" i="0" lang="en-US" sz="1600" u="none" cap="none" strike="noStrike">
                <a:solidFill>
                  <a:srgbClr val="14213D"/>
                </a:solidFill>
                <a:latin typeface="IBM Plex Sans"/>
                <a:ea typeface="IBM Plex Sans"/>
                <a:cs typeface="IBM Plex Sans"/>
                <a:sym typeface="IBM Plex Sans"/>
              </a:rPr>
              <a:t>Observed: +3.71 points</a:t>
            </a:r>
            <a:endParaRPr b="0" i="0" sz="1600" u="none" cap="none" strike="noStrike">
              <a:solidFill>
                <a:schemeClr val="dk1"/>
              </a:solidFill>
              <a:latin typeface="IBM Plex Sans"/>
              <a:ea typeface="IBM Plex Sans"/>
              <a:cs typeface="IBM Plex Sans"/>
              <a:sym typeface="IBM Plex Sans"/>
            </a:endParaRPr>
          </a:p>
        </p:txBody>
      </p:sp>
      <p:sp>
        <p:nvSpPr>
          <p:cNvPr id="181" name="Google Shape;181;p7"/>
          <p:cNvSpPr/>
          <p:nvPr/>
        </p:nvSpPr>
        <p:spPr>
          <a:xfrm>
            <a:off x="1066800" y="4226421"/>
            <a:ext cx="4813808"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4A5568"/>
              </a:buClr>
              <a:buSzPts val="1400"/>
              <a:buFont typeface="IBM Plex Sans"/>
              <a:buNone/>
            </a:pPr>
            <a:r>
              <a:rPr b="0" i="0" lang="en-US" sz="1400" u="none" cap="none" strike="noStrike">
                <a:solidFill>
                  <a:srgbClr val="4A5568"/>
                </a:solidFill>
                <a:latin typeface="IBM Plex Sans"/>
                <a:ea typeface="IBM Plex Sans"/>
                <a:cs typeface="IBM Plex Sans"/>
                <a:sym typeface="IBM Plex Sans"/>
              </a:rPr>
              <a:t>Required: +5 percentage points</a:t>
            </a:r>
            <a:endParaRPr b="0" i="0" sz="1400" u="none" cap="none" strike="noStrike">
              <a:solidFill>
                <a:schemeClr val="dk1"/>
              </a:solidFill>
              <a:latin typeface="IBM Plex Sans"/>
              <a:ea typeface="IBM Plex Sans"/>
              <a:cs typeface="IBM Plex Sans"/>
              <a:sym typeface="IBM Plex Sans"/>
            </a:endParaRPr>
          </a:p>
        </p:txBody>
      </p:sp>
      <p:sp>
        <p:nvSpPr>
          <p:cNvPr id="182" name="Google Shape;182;p7"/>
          <p:cNvSpPr/>
          <p:nvPr/>
        </p:nvSpPr>
        <p:spPr>
          <a:xfrm>
            <a:off x="6197600" y="3677841"/>
            <a:ext cx="5181600" cy="1051421"/>
          </a:xfrm>
          <a:prstGeom prst="roundRect">
            <a:avLst>
              <a:gd fmla="val 7247" name="adj"/>
            </a:avLst>
          </a:prstGeom>
          <a:solidFill>
            <a:srgbClr val="14213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7"/>
          <p:cNvSpPr/>
          <p:nvPr/>
        </p:nvSpPr>
        <p:spPr>
          <a:xfrm>
            <a:off x="6451600" y="3931841"/>
            <a:ext cx="4813808" cy="26918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8A56B"/>
              </a:buClr>
              <a:buSzPts val="1600"/>
              <a:buFont typeface="IBM Plex Sans"/>
              <a:buNone/>
            </a:pPr>
            <a:r>
              <a:rPr b="1" i="0" lang="en-US" sz="1600" u="none" cap="none" strike="noStrike">
                <a:solidFill>
                  <a:srgbClr val="E8A56B"/>
                </a:solidFill>
                <a:latin typeface="IBM Plex Sans"/>
                <a:ea typeface="IBM Plex Sans"/>
                <a:cs typeface="IBM Plex Sans"/>
                <a:sym typeface="IBM Plex Sans"/>
              </a:rPr>
              <a:t>Below the threshold</a:t>
            </a:r>
            <a:endParaRPr b="0" i="0" sz="1600" u="none" cap="none" strike="noStrike">
              <a:solidFill>
                <a:schemeClr val="dk1"/>
              </a:solidFill>
              <a:latin typeface="IBM Plex Sans"/>
              <a:ea typeface="IBM Plex Sans"/>
              <a:cs typeface="IBM Plex Sans"/>
              <a:sym typeface="IBM Plex Sans"/>
            </a:endParaRPr>
          </a:p>
        </p:txBody>
      </p:sp>
      <p:sp>
        <p:nvSpPr>
          <p:cNvPr id="184" name="Google Shape;184;p7"/>
          <p:cNvSpPr/>
          <p:nvPr/>
        </p:nvSpPr>
        <p:spPr>
          <a:xfrm>
            <a:off x="6451600" y="4226421"/>
            <a:ext cx="4813808"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E6"/>
              </a:buClr>
              <a:buSzPts val="1400"/>
              <a:buFont typeface="IBM Plex Sans"/>
              <a:buNone/>
            </a:pPr>
            <a:r>
              <a:rPr b="0" i="0" lang="en-US" sz="1400" u="none" cap="none" strike="noStrike">
                <a:solidFill>
                  <a:srgbClr val="C9D3E6"/>
                </a:solidFill>
                <a:latin typeface="IBM Plex Sans"/>
                <a:ea typeface="IBM Plex Sans"/>
                <a:cs typeface="IBM Plex Sans"/>
                <a:sym typeface="IBM Plex Sans"/>
              </a:rPr>
              <a:t>Short by 1.29 points: not cost-effective yet</a:t>
            </a:r>
            <a:endParaRPr b="0" i="0" sz="1400" u="none" cap="none" strike="noStrike">
              <a:solidFill>
                <a:schemeClr val="dk1"/>
              </a:solidFill>
              <a:latin typeface="IBM Plex Sans"/>
              <a:ea typeface="IBM Plex Sans"/>
              <a:cs typeface="IBM Plex Sans"/>
              <a:sym typeface="IBM Plex Sans"/>
            </a:endParaRPr>
          </a:p>
        </p:txBody>
      </p:sp>
      <p:sp>
        <p:nvSpPr>
          <p:cNvPr id="185" name="Google Shape;185;p7"/>
          <p:cNvSpPr/>
          <p:nvPr/>
        </p:nvSpPr>
        <p:spPr>
          <a:xfrm>
            <a:off x="10893544" y="6236990"/>
            <a:ext cx="485656"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68"/>
              </a:buClr>
              <a:buSzPts val="1200"/>
              <a:buFont typeface="IBM Plex Sans"/>
              <a:buNone/>
            </a:pPr>
            <a:r>
              <a:rPr lang="en-US" sz="1200">
                <a:solidFill>
                  <a:srgbClr val="4A5568"/>
                </a:solidFill>
                <a:latin typeface="IBM Plex Sans"/>
                <a:ea typeface="IBM Plex Sans"/>
                <a:cs typeface="IBM Plex Sans"/>
                <a:sym typeface="IBM Plex Sans"/>
              </a:rPr>
              <a:t>8</a:t>
            </a:r>
            <a:r>
              <a:rPr b="0" i="0" lang="en-US" sz="1200" u="none" cap="none" strike="noStrike">
                <a:solidFill>
                  <a:srgbClr val="4A5568"/>
                </a:solidFill>
                <a:latin typeface="IBM Plex Sans"/>
                <a:ea typeface="IBM Plex Sans"/>
                <a:cs typeface="IBM Plex Sans"/>
                <a:sym typeface="IBM Plex Sans"/>
              </a:rPr>
              <a:t> / 12</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5F0"/>
        </a:solidFill>
      </p:bgPr>
    </p:bg>
    <p:spTree>
      <p:nvGrpSpPr>
        <p:cNvPr id="190" name="Shape 190"/>
        <p:cNvGrpSpPr/>
        <p:nvPr/>
      </p:nvGrpSpPr>
      <p:grpSpPr>
        <a:xfrm>
          <a:off x="0" y="0"/>
          <a:ext cx="0" cy="0"/>
          <a:chOff x="0" y="0"/>
          <a:chExt cx="0" cy="0"/>
        </a:xfrm>
      </p:grpSpPr>
      <p:sp>
        <p:nvSpPr>
          <p:cNvPr id="191" name="Google Shape;191;p9"/>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61A"/>
              </a:buClr>
              <a:buSzPts val="1200"/>
              <a:buFont typeface="IBM Plex Sans"/>
              <a:buNone/>
            </a:pPr>
            <a:r>
              <a:rPr b="0" i="0" lang="en-US" sz="1200" u="none" cap="none" strike="noStrike">
                <a:solidFill>
                  <a:srgbClr val="B4561A"/>
                </a:solidFill>
                <a:latin typeface="IBM Plex Sans"/>
                <a:ea typeface="IBM Plex Sans"/>
                <a:cs typeface="IBM Plex Sans"/>
                <a:sym typeface="IBM Plex Sans"/>
              </a:rPr>
              <a:t>CAN WE TRUST THE EXPERIMENT?</a:t>
            </a:r>
            <a:endParaRPr b="0" i="0" sz="1200" u="none" cap="none" strike="noStrike">
              <a:solidFill>
                <a:schemeClr val="dk1"/>
              </a:solidFill>
              <a:latin typeface="IBM Plex Sans"/>
              <a:ea typeface="IBM Plex Sans"/>
              <a:cs typeface="IBM Plex Sans"/>
              <a:sym typeface="IBM Plex Sans"/>
            </a:endParaRPr>
          </a:p>
        </p:txBody>
      </p:sp>
      <p:sp>
        <p:nvSpPr>
          <p:cNvPr id="192" name="Google Shape;192;p9"/>
          <p:cNvSpPr txBox="1"/>
          <p:nvPr>
            <p:ph type="title"/>
          </p:nvPr>
        </p:nvSpPr>
        <p:spPr>
          <a:xfrm>
            <a:off x="812800" y="1076920"/>
            <a:ext cx="10883392" cy="49272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14213D"/>
              </a:buClr>
              <a:buSzPts val="3200"/>
              <a:buFont typeface="Source Serif 4"/>
              <a:buNone/>
            </a:pPr>
            <a:r>
              <a:rPr b="1" i="0" lang="en-US" sz="3200">
                <a:solidFill>
                  <a:srgbClr val="14213D"/>
                </a:solidFill>
                <a:latin typeface="Source Serif 4"/>
                <a:ea typeface="Source Serif 4"/>
                <a:cs typeface="Source Serif 4"/>
                <a:sym typeface="Source Serif 4"/>
              </a:rPr>
              <a:t>Yes, with two limitations</a:t>
            </a:r>
            <a:endParaRPr sz="3200"/>
          </a:p>
        </p:txBody>
      </p:sp>
      <p:sp>
        <p:nvSpPr>
          <p:cNvPr id="193" name="Google Shape;193;p9"/>
          <p:cNvSpPr/>
          <p:nvPr/>
        </p:nvSpPr>
        <p:spPr>
          <a:xfrm>
            <a:off x="812800" y="1849041"/>
            <a:ext cx="5181600" cy="1843782"/>
          </a:xfrm>
          <a:prstGeom prst="roundRect">
            <a:avLst>
              <a:gd fmla="val 4133" name="adj"/>
            </a:avLst>
          </a:prstGeom>
          <a:solidFill>
            <a:srgbClr val="FFF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p:nvPr/>
        </p:nvSpPr>
        <p:spPr>
          <a:xfrm>
            <a:off x="812800" y="1849041"/>
            <a:ext cx="5181600" cy="1843782"/>
          </a:xfrm>
          <a:custGeom>
            <a:rect b="b" l="l" r="r" t="t"/>
            <a:pathLst>
              <a:path extrusionOk="0" h="1843782" w="5181600">
                <a:moveTo>
                  <a:pt x="0" y="76200"/>
                </a:moveTo>
                <a:lnTo>
                  <a:pt x="0" y="76200"/>
                </a:lnTo>
                <a:cubicBezTo>
                  <a:pt x="0" y="34116"/>
                  <a:pt x="34116" y="0"/>
                  <a:pt x="76200" y="0"/>
                </a:cubicBezTo>
                <a:lnTo>
                  <a:pt x="5105400" y="0"/>
                </a:lnTo>
                <a:cubicBezTo>
                  <a:pt x="5125609" y="0"/>
                  <a:pt x="5144991" y="8028"/>
                  <a:pt x="5159282" y="22318"/>
                </a:cubicBezTo>
                <a:cubicBezTo>
                  <a:pt x="5173572" y="36609"/>
                  <a:pt x="5181600" y="55991"/>
                  <a:pt x="5181600" y="76200"/>
                </a:cubicBezTo>
                <a:lnTo>
                  <a:pt x="5181600" y="76200"/>
                </a:lnTo>
                <a:cubicBezTo>
                  <a:pt x="5181600" y="62172"/>
                  <a:pt x="5147484" y="50800"/>
                  <a:pt x="5105400" y="50800"/>
                </a:cubicBezTo>
                <a:lnTo>
                  <a:pt x="76200" y="50800"/>
                </a:lnTo>
                <a:cubicBezTo>
                  <a:pt x="34116" y="50800"/>
                  <a:pt x="0" y="62172"/>
                  <a:pt x="0" y="76200"/>
                </a:cubicBezTo>
                <a:close/>
              </a:path>
            </a:pathLst>
          </a:custGeom>
          <a:solidFill>
            <a:srgbClr val="2F5D9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9"/>
          <p:cNvSpPr/>
          <p:nvPr/>
        </p:nvSpPr>
        <p:spPr>
          <a:xfrm>
            <a:off x="1066800" y="2153841"/>
            <a:ext cx="4813808" cy="36066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2200"/>
              <a:buFont typeface="IBM Plex Sans"/>
              <a:buNone/>
            </a:pPr>
            <a:r>
              <a:rPr b="1" i="0" lang="en-US" sz="2200" u="none" cap="none" strike="noStrike">
                <a:solidFill>
                  <a:srgbClr val="14213D"/>
                </a:solidFill>
                <a:latin typeface="IBM Plex Sans"/>
                <a:ea typeface="IBM Plex Sans"/>
                <a:cs typeface="IBM Plex Sans"/>
                <a:sym typeface="IBM Plex Sans"/>
              </a:rPr>
              <a:t>Were the groups fair?</a:t>
            </a:r>
            <a:endParaRPr b="0" i="0" sz="2200" u="none" cap="none" strike="noStrike">
              <a:solidFill>
                <a:schemeClr val="dk1"/>
              </a:solidFill>
              <a:latin typeface="IBM Plex Sans"/>
              <a:ea typeface="IBM Plex Sans"/>
              <a:cs typeface="IBM Plex Sans"/>
              <a:sym typeface="IBM Plex Sans"/>
            </a:endParaRPr>
          </a:p>
        </p:txBody>
      </p:sp>
      <p:sp>
        <p:nvSpPr>
          <p:cNvPr id="196" name="Google Shape;196;p9"/>
          <p:cNvSpPr/>
          <p:nvPr/>
        </p:nvSpPr>
        <p:spPr>
          <a:xfrm>
            <a:off x="1066800" y="2590701"/>
            <a:ext cx="4813808"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400"/>
              <a:buFont typeface="IBM Plex Sans"/>
              <a:buNone/>
            </a:pPr>
            <a:r>
              <a:rPr b="1" i="0" lang="en-US" sz="1400" u="none" cap="none" strike="noStrike">
                <a:solidFill>
                  <a:srgbClr val="1F2A44"/>
                </a:solidFill>
                <a:latin typeface="IBM Plex Sans"/>
                <a:ea typeface="IBM Plex Sans"/>
                <a:cs typeface="IBM Plex Sans"/>
                <a:sym typeface="IBM Plex Sans"/>
              </a:rPr>
              <a:t>Yes.</a:t>
            </a:r>
            <a:r>
              <a:rPr b="0" i="0" lang="en-US" sz="1400" u="none" cap="none" strike="noStrike">
                <a:solidFill>
                  <a:srgbClr val="1F2A44"/>
                </a:solidFill>
                <a:latin typeface="IBM Plex Sans"/>
                <a:ea typeface="IBM Plex Sans"/>
                <a:cs typeface="IBM Plex Sans"/>
                <a:sym typeface="IBM Plex Sans"/>
              </a:rPr>
              <a:t> Age, tenure, balance and gender are comparable (age differs by only ~4 months).</a:t>
            </a:r>
            <a:endParaRPr b="0" i="0" sz="1400" u="none" cap="none" strike="noStrike">
              <a:solidFill>
                <a:schemeClr val="dk1"/>
              </a:solidFill>
              <a:latin typeface="IBM Plex Sans"/>
              <a:ea typeface="IBM Plex Sans"/>
              <a:cs typeface="IBM Plex Sans"/>
              <a:sym typeface="IBM Plex Sans"/>
            </a:endParaRPr>
          </a:p>
        </p:txBody>
      </p:sp>
      <p:sp>
        <p:nvSpPr>
          <p:cNvPr id="197" name="Google Shape;197;p9"/>
          <p:cNvSpPr/>
          <p:nvPr/>
        </p:nvSpPr>
        <p:spPr>
          <a:xfrm>
            <a:off x="1066800" y="3189982"/>
            <a:ext cx="4813808"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61A"/>
              </a:buClr>
              <a:buSzPts val="1400"/>
              <a:buFont typeface="IBM Plex Sans"/>
              <a:buNone/>
            </a:pPr>
            <a:r>
              <a:rPr b="1" i="0" lang="en-US" sz="1400" u="none" cap="none" strike="noStrike">
                <a:solidFill>
                  <a:srgbClr val="B4561A"/>
                </a:solidFill>
                <a:latin typeface="IBM Plex Sans"/>
                <a:ea typeface="IBM Plex Sans"/>
                <a:cs typeface="IBM Plex Sans"/>
                <a:sym typeface="IBM Plex Sans"/>
              </a:rPr>
              <a:t>Limitation:</a:t>
            </a:r>
            <a:r>
              <a:rPr b="0" i="0" lang="en-US" sz="1400" u="none" cap="none" strike="noStrike">
                <a:solidFill>
                  <a:srgbClr val="B4561A"/>
                </a:solidFill>
                <a:latin typeface="IBM Plex Sans"/>
                <a:ea typeface="IBM Plex Sans"/>
                <a:cs typeface="IBM Plex Sans"/>
                <a:sym typeface="IBM Plex Sans"/>
              </a:rPr>
              <a:t> the split was 53/47, not 50/50.</a:t>
            </a:r>
            <a:endParaRPr b="0" i="0" sz="1400" u="none" cap="none" strike="noStrike">
              <a:solidFill>
                <a:schemeClr val="dk1"/>
              </a:solidFill>
              <a:latin typeface="IBM Plex Sans"/>
              <a:ea typeface="IBM Plex Sans"/>
              <a:cs typeface="IBM Plex Sans"/>
              <a:sym typeface="IBM Plex Sans"/>
            </a:endParaRPr>
          </a:p>
        </p:txBody>
      </p:sp>
      <p:sp>
        <p:nvSpPr>
          <p:cNvPr id="198" name="Google Shape;198;p9"/>
          <p:cNvSpPr/>
          <p:nvPr/>
        </p:nvSpPr>
        <p:spPr>
          <a:xfrm>
            <a:off x="6197600" y="1849041"/>
            <a:ext cx="5181600" cy="1843782"/>
          </a:xfrm>
          <a:prstGeom prst="roundRect">
            <a:avLst>
              <a:gd fmla="val 4133" name="adj"/>
            </a:avLst>
          </a:prstGeom>
          <a:solidFill>
            <a:srgbClr val="FFFD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9"/>
          <p:cNvSpPr/>
          <p:nvPr/>
        </p:nvSpPr>
        <p:spPr>
          <a:xfrm>
            <a:off x="6197600" y="1849041"/>
            <a:ext cx="5181600" cy="1843782"/>
          </a:xfrm>
          <a:custGeom>
            <a:rect b="b" l="l" r="r" t="t"/>
            <a:pathLst>
              <a:path extrusionOk="0" h="1843782" w="5181600">
                <a:moveTo>
                  <a:pt x="0" y="76200"/>
                </a:moveTo>
                <a:lnTo>
                  <a:pt x="0" y="76200"/>
                </a:lnTo>
                <a:cubicBezTo>
                  <a:pt x="0" y="34116"/>
                  <a:pt x="34116" y="0"/>
                  <a:pt x="76200" y="0"/>
                </a:cubicBezTo>
                <a:lnTo>
                  <a:pt x="5105400" y="0"/>
                </a:lnTo>
                <a:cubicBezTo>
                  <a:pt x="5125609" y="0"/>
                  <a:pt x="5144991" y="8028"/>
                  <a:pt x="5159282" y="22318"/>
                </a:cubicBezTo>
                <a:cubicBezTo>
                  <a:pt x="5173572" y="36609"/>
                  <a:pt x="5181600" y="55991"/>
                  <a:pt x="5181600" y="76200"/>
                </a:cubicBezTo>
                <a:lnTo>
                  <a:pt x="5181600" y="76200"/>
                </a:lnTo>
                <a:cubicBezTo>
                  <a:pt x="5181600" y="62172"/>
                  <a:pt x="5147484" y="50800"/>
                  <a:pt x="5105400" y="50800"/>
                </a:cubicBezTo>
                <a:lnTo>
                  <a:pt x="76200" y="50800"/>
                </a:lnTo>
                <a:cubicBezTo>
                  <a:pt x="34116" y="50800"/>
                  <a:pt x="0" y="62172"/>
                  <a:pt x="0" y="76200"/>
                </a:cubicBezTo>
                <a:close/>
              </a:path>
            </a:pathLst>
          </a:custGeom>
          <a:solidFill>
            <a:srgbClr val="D977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p:nvPr/>
        </p:nvSpPr>
        <p:spPr>
          <a:xfrm>
            <a:off x="6451600" y="2153841"/>
            <a:ext cx="4813808" cy="36066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14213D"/>
              </a:buClr>
              <a:buSzPts val="2200"/>
              <a:buFont typeface="IBM Plex Sans"/>
              <a:buNone/>
            </a:pPr>
            <a:r>
              <a:rPr b="1" i="0" lang="en-US" sz="2200" u="none" cap="none" strike="noStrike">
                <a:solidFill>
                  <a:srgbClr val="14213D"/>
                </a:solidFill>
                <a:latin typeface="IBM Plex Sans"/>
                <a:ea typeface="IBM Plex Sans"/>
                <a:cs typeface="IBM Plex Sans"/>
                <a:sym typeface="IBM Plex Sans"/>
              </a:rPr>
              <a:t>Was it long enough?</a:t>
            </a:r>
            <a:endParaRPr b="0" i="0" sz="2200" u="none" cap="none" strike="noStrike">
              <a:solidFill>
                <a:schemeClr val="dk1"/>
              </a:solidFill>
              <a:latin typeface="IBM Plex Sans"/>
              <a:ea typeface="IBM Plex Sans"/>
              <a:cs typeface="IBM Plex Sans"/>
              <a:sym typeface="IBM Plex Sans"/>
            </a:endParaRPr>
          </a:p>
        </p:txBody>
      </p:sp>
      <p:sp>
        <p:nvSpPr>
          <p:cNvPr id="201" name="Google Shape;201;p9"/>
          <p:cNvSpPr/>
          <p:nvPr/>
        </p:nvSpPr>
        <p:spPr>
          <a:xfrm>
            <a:off x="6451600" y="2590701"/>
            <a:ext cx="4813808" cy="27424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44"/>
              </a:buClr>
              <a:buSzPts val="1400"/>
              <a:buFont typeface="IBM Plex Sans"/>
              <a:buNone/>
            </a:pPr>
            <a:r>
              <a:rPr b="1" i="0" lang="en-US" sz="1400" u="none" cap="none" strike="noStrike">
                <a:solidFill>
                  <a:srgbClr val="1F2A44"/>
                </a:solidFill>
                <a:latin typeface="IBM Plex Sans"/>
                <a:ea typeface="IBM Plex Sans"/>
                <a:cs typeface="IBM Plex Sans"/>
                <a:sym typeface="IBM Plex Sans"/>
              </a:rPr>
              <a:t>Yes.</a:t>
            </a:r>
            <a:r>
              <a:rPr b="0" i="0" lang="en-US" sz="1400" u="none" cap="none" strike="noStrike">
                <a:solidFill>
                  <a:srgbClr val="1F2A44"/>
                </a:solidFill>
                <a:latin typeface="IBM Plex Sans"/>
                <a:ea typeface="IBM Plex Sans"/>
                <a:cs typeface="IBM Plex Sans"/>
                <a:sym typeface="IBM Plex Sans"/>
              </a:rPr>
              <a:t> About 14 weeks, both groups active every week.</a:t>
            </a:r>
            <a:endParaRPr b="0" i="0" sz="1400" u="none" cap="none" strike="noStrike">
              <a:solidFill>
                <a:schemeClr val="dk1"/>
              </a:solidFill>
              <a:latin typeface="IBM Plex Sans"/>
              <a:ea typeface="IBM Plex Sans"/>
              <a:cs typeface="IBM Plex Sans"/>
              <a:sym typeface="IBM Plex Sans"/>
            </a:endParaRPr>
          </a:p>
        </p:txBody>
      </p:sp>
      <p:sp>
        <p:nvSpPr>
          <p:cNvPr id="202" name="Google Shape;202;p9"/>
          <p:cNvSpPr/>
          <p:nvPr/>
        </p:nvSpPr>
        <p:spPr>
          <a:xfrm>
            <a:off x="6451600" y="2941141"/>
            <a:ext cx="4813808" cy="523081"/>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B4561A"/>
              </a:buClr>
              <a:buSzPts val="1400"/>
              <a:buFont typeface="IBM Plex Sans"/>
              <a:buNone/>
            </a:pPr>
            <a:r>
              <a:rPr b="1" i="0" lang="en-US" sz="1400" u="none" cap="none" strike="noStrike">
                <a:solidFill>
                  <a:srgbClr val="B4561A"/>
                </a:solidFill>
                <a:latin typeface="IBM Plex Sans"/>
                <a:ea typeface="IBM Plex Sans"/>
                <a:cs typeface="IBM Plex Sans"/>
                <a:sym typeface="IBM Plex Sans"/>
              </a:rPr>
              <a:t>Limitation:</a:t>
            </a:r>
            <a:r>
              <a:rPr b="0" i="0" lang="en-US" sz="1400" u="none" cap="none" strike="noStrike">
                <a:solidFill>
                  <a:srgbClr val="B4561A"/>
                </a:solidFill>
                <a:latin typeface="IBM Plex Sans"/>
                <a:ea typeface="IBM Plex Sans"/>
                <a:cs typeface="IBM Plex Sans"/>
                <a:sym typeface="IBM Plex Sans"/>
              </a:rPr>
              <a:t> Test was ahead every week until May; from 8 May, both groups were roughly equal.</a:t>
            </a:r>
            <a:endParaRPr b="0" i="0" sz="1400" u="none" cap="none" strike="noStrike">
              <a:solidFill>
                <a:schemeClr val="dk1"/>
              </a:solidFill>
              <a:latin typeface="IBM Plex Sans"/>
              <a:ea typeface="IBM Plex Sans"/>
              <a:cs typeface="IBM Plex Sans"/>
              <a:sym typeface="IBM Plex Sans"/>
            </a:endParaRPr>
          </a:p>
        </p:txBody>
      </p:sp>
      <p:sp>
        <p:nvSpPr>
          <p:cNvPr id="203" name="Google Shape;203;p9"/>
          <p:cNvSpPr/>
          <p:nvPr/>
        </p:nvSpPr>
        <p:spPr>
          <a:xfrm>
            <a:off x="10893544" y="6236990"/>
            <a:ext cx="485656"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4A5568"/>
              </a:buClr>
              <a:buSzPts val="1200"/>
              <a:buFont typeface="IBM Plex Sans"/>
              <a:buNone/>
            </a:pPr>
            <a:r>
              <a:rPr b="0" i="0" lang="en-US" sz="1200" u="none" cap="none" strike="noStrike">
                <a:solidFill>
                  <a:srgbClr val="4A5568"/>
                </a:solidFill>
                <a:latin typeface="IBM Plex Sans"/>
                <a:ea typeface="IBM Plex Sans"/>
                <a:cs typeface="IBM Plex Sans"/>
                <a:sym typeface="IBM Plex Sans"/>
              </a:rPr>
              <a:t>9 / 12</a:t>
            </a:r>
            <a:endParaRPr b="0" i="0" sz="1200" u="none" cap="none" strike="noStrike">
              <a:solidFill>
                <a:schemeClr val="dk1"/>
              </a:solidFill>
              <a:latin typeface="IBM Plex Sans"/>
              <a:ea typeface="IBM Plex Sans"/>
              <a:cs typeface="IBM Plex Sans"/>
              <a:sym typeface="IBM Plex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208" name="Shape 208"/>
        <p:cNvGrpSpPr/>
        <p:nvPr/>
      </p:nvGrpSpPr>
      <p:grpSpPr>
        <a:xfrm>
          <a:off x="0" y="0"/>
          <a:ext cx="0" cy="0"/>
          <a:chOff x="0" y="0"/>
          <a:chExt cx="0" cy="0"/>
        </a:xfrm>
      </p:grpSpPr>
      <p:sp>
        <p:nvSpPr>
          <p:cNvPr id="209" name="Google Shape;209;p11"/>
          <p:cNvSpPr/>
          <p:nvPr/>
        </p:nvSpPr>
        <p:spPr>
          <a:xfrm>
            <a:off x="812800" y="812800"/>
            <a:ext cx="10883392" cy="23872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8A56B"/>
              </a:buClr>
              <a:buSzPts val="1200"/>
              <a:buFont typeface="IBM Plex Sans"/>
              <a:buNone/>
            </a:pPr>
            <a:r>
              <a:rPr b="0" i="0" lang="en-US" sz="1200" u="none" cap="none" strike="noStrike">
                <a:solidFill>
                  <a:srgbClr val="E8A56B"/>
                </a:solidFill>
                <a:latin typeface="IBM Plex Sans"/>
                <a:ea typeface="IBM Plex Sans"/>
                <a:cs typeface="IBM Plex Sans"/>
                <a:sym typeface="IBM Plex Sans"/>
              </a:rPr>
              <a:t>RECOMMENDATION</a:t>
            </a:r>
            <a:endParaRPr b="0" i="0" sz="1200" u="none" cap="none" strike="noStrike">
              <a:solidFill>
                <a:schemeClr val="dk1"/>
              </a:solidFill>
              <a:latin typeface="IBM Plex Sans"/>
              <a:ea typeface="IBM Plex Sans"/>
              <a:cs typeface="IBM Plex Sans"/>
              <a:sym typeface="IBM Plex Sans"/>
            </a:endParaRPr>
          </a:p>
        </p:txBody>
      </p:sp>
      <p:sp>
        <p:nvSpPr>
          <p:cNvPr id="210" name="Google Shape;210;p11"/>
          <p:cNvSpPr txBox="1"/>
          <p:nvPr>
            <p:ph type="title"/>
          </p:nvPr>
        </p:nvSpPr>
        <p:spPr>
          <a:xfrm>
            <a:off x="812800" y="1076920"/>
            <a:ext cx="10883400" cy="4926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Clr>
                <a:srgbClr val="F7F5F0"/>
              </a:buClr>
              <a:buSzPts val="3200"/>
              <a:buFont typeface="Source Serif 4"/>
              <a:buNone/>
            </a:pPr>
            <a:r>
              <a:rPr b="1" i="0" lang="en-US" sz="3200">
                <a:solidFill>
                  <a:srgbClr val="F7F5F0"/>
                </a:solidFill>
                <a:latin typeface="Source Serif 4"/>
                <a:ea typeface="Source Serif 4"/>
                <a:cs typeface="Source Serif 4"/>
                <a:sym typeface="Source Serif 4"/>
              </a:rPr>
              <a:t>Fix the start of the process, then test again</a:t>
            </a:r>
            <a:endParaRPr sz="3200"/>
          </a:p>
        </p:txBody>
      </p:sp>
      <p:sp>
        <p:nvSpPr>
          <p:cNvPr id="211" name="Google Shape;211;p11"/>
          <p:cNvSpPr/>
          <p:nvPr/>
        </p:nvSpPr>
        <p:spPr>
          <a:xfrm>
            <a:off x="2107575" y="1703891"/>
            <a:ext cx="3386700" cy="1823400"/>
          </a:xfrm>
          <a:prstGeom prst="roundRect">
            <a:avLst>
              <a:gd fmla="val 4179" name="adj"/>
            </a:avLst>
          </a:prstGeom>
          <a:solidFill>
            <a:srgbClr val="1F2F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a:off x="2361575" y="1957891"/>
            <a:ext cx="2964900" cy="2691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8A56B"/>
              </a:buClr>
              <a:buSzPts val="1600"/>
              <a:buFont typeface="IBM Plex Sans"/>
              <a:buNone/>
            </a:pPr>
            <a:r>
              <a:rPr b="1" i="0" lang="en-US" sz="1600" u="none" cap="none" strike="noStrike">
                <a:solidFill>
                  <a:srgbClr val="E8A56B"/>
                </a:solidFill>
                <a:latin typeface="IBM Plex Sans"/>
                <a:ea typeface="IBM Plex Sans"/>
                <a:cs typeface="IBM Plex Sans"/>
                <a:sym typeface="IBM Plex Sans"/>
              </a:rPr>
              <a:t>What works</a:t>
            </a:r>
            <a:endParaRPr b="0" i="0" sz="1600" u="none" cap="none" strike="noStrike">
              <a:solidFill>
                <a:schemeClr val="dk1"/>
              </a:solidFill>
              <a:latin typeface="IBM Plex Sans"/>
              <a:ea typeface="IBM Plex Sans"/>
              <a:cs typeface="IBM Plex Sans"/>
              <a:sym typeface="IBM Plex Sans"/>
            </a:endParaRPr>
          </a:p>
        </p:txBody>
      </p:sp>
      <p:sp>
        <p:nvSpPr>
          <p:cNvPr id="213" name="Google Shape;213;p11"/>
          <p:cNvSpPr/>
          <p:nvPr/>
        </p:nvSpPr>
        <p:spPr>
          <a:xfrm>
            <a:off x="2361575" y="2277871"/>
            <a:ext cx="2964900" cy="7719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CE3EF"/>
              </a:buClr>
              <a:buSzPts val="1400"/>
              <a:buFont typeface="IBM Plex Sans"/>
              <a:buNone/>
            </a:pPr>
            <a:r>
              <a:rPr b="0" i="0" lang="en-US" sz="1400" u="none" cap="none" strike="noStrike">
                <a:solidFill>
                  <a:srgbClr val="DCE3EF"/>
                </a:solidFill>
                <a:latin typeface="IBM Plex Sans"/>
                <a:ea typeface="IBM Plex Sans"/>
                <a:cs typeface="IBM Plex Sans"/>
                <a:sym typeface="IBM Plex Sans"/>
              </a:rPr>
              <a:t>Completion is up 3.7 points (≈ 1,000 more clients), a real effect, for younger and older clients alike</a:t>
            </a:r>
            <a:endParaRPr b="0" i="0" sz="1400" u="none" cap="none" strike="noStrike">
              <a:solidFill>
                <a:schemeClr val="dk1"/>
              </a:solidFill>
              <a:latin typeface="IBM Plex Sans"/>
              <a:ea typeface="IBM Plex Sans"/>
              <a:cs typeface="IBM Plex Sans"/>
              <a:sym typeface="IBM Plex Sans"/>
            </a:endParaRPr>
          </a:p>
        </p:txBody>
      </p:sp>
      <p:sp>
        <p:nvSpPr>
          <p:cNvPr id="214" name="Google Shape;214;p11"/>
          <p:cNvSpPr/>
          <p:nvPr/>
        </p:nvSpPr>
        <p:spPr>
          <a:xfrm>
            <a:off x="6697734" y="1716566"/>
            <a:ext cx="3386700" cy="1823400"/>
          </a:xfrm>
          <a:prstGeom prst="roundRect">
            <a:avLst>
              <a:gd fmla="val 4179" name="adj"/>
            </a:avLst>
          </a:prstGeom>
          <a:solidFill>
            <a:srgbClr val="1F2F5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11"/>
          <p:cNvSpPr/>
          <p:nvPr/>
        </p:nvSpPr>
        <p:spPr>
          <a:xfrm>
            <a:off x="6951734" y="1970566"/>
            <a:ext cx="2965200" cy="269100"/>
          </a:xfrm>
          <a:prstGeom prst="rect">
            <a:avLst/>
          </a:prstGeom>
          <a:noFill/>
          <a:ln>
            <a:noFill/>
          </a:ln>
        </p:spPr>
        <p:txBody>
          <a:bodyPr anchorCtr="0" anchor="t" bIns="0" lIns="0" spcFirstLastPara="1" rIns="0" wrap="square" tIns="0">
            <a:normAutofit/>
          </a:bodyPr>
          <a:lstStyle/>
          <a:p>
            <a:pPr indent="0" lvl="0" marL="0" marR="0" rtl="0" algn="l">
              <a:lnSpc>
                <a:spcPct val="120000"/>
              </a:lnSpc>
              <a:spcBef>
                <a:spcPts val="0"/>
              </a:spcBef>
              <a:spcAft>
                <a:spcPts val="0"/>
              </a:spcAft>
              <a:buClr>
                <a:srgbClr val="E8A56B"/>
              </a:buClr>
              <a:buSzPts val="1600"/>
              <a:buFont typeface="IBM Plex Sans"/>
              <a:buNone/>
            </a:pPr>
            <a:r>
              <a:rPr b="1" i="0" lang="en-US" sz="1600" u="none" cap="none" strike="noStrike">
                <a:solidFill>
                  <a:srgbClr val="E8A56B"/>
                </a:solidFill>
                <a:latin typeface="IBM Plex Sans"/>
                <a:ea typeface="IBM Plex Sans"/>
                <a:cs typeface="IBM Plex Sans"/>
                <a:sym typeface="IBM Plex Sans"/>
              </a:rPr>
              <a:t>What doesn’t</a:t>
            </a:r>
            <a:endParaRPr b="0" i="0" sz="1600" u="none" cap="none" strike="noStrike">
              <a:solidFill>
                <a:schemeClr val="dk1"/>
              </a:solidFill>
              <a:latin typeface="IBM Plex Sans"/>
              <a:ea typeface="IBM Plex Sans"/>
              <a:cs typeface="IBM Plex Sans"/>
              <a:sym typeface="IBM Plex Sans"/>
            </a:endParaRPr>
          </a:p>
        </p:txBody>
      </p:sp>
      <p:sp>
        <p:nvSpPr>
          <p:cNvPr id="216" name="Google Shape;216;p11"/>
          <p:cNvSpPr/>
          <p:nvPr/>
        </p:nvSpPr>
        <p:spPr>
          <a:xfrm>
            <a:off x="6951734" y="2290546"/>
            <a:ext cx="2965200" cy="10209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DCE3EF"/>
              </a:buClr>
              <a:buSzPts val="1400"/>
              <a:buFont typeface="IBM Plex Sans"/>
              <a:buNone/>
            </a:pPr>
            <a:r>
              <a:rPr b="0" i="0" lang="en-US" sz="1400" u="none" cap="none" strike="noStrike">
                <a:solidFill>
                  <a:srgbClr val="DCE3EF"/>
                </a:solidFill>
                <a:latin typeface="IBM Plex Sans"/>
                <a:ea typeface="IBM Plex Sans"/>
                <a:cs typeface="IBM Plex Sans"/>
                <a:sym typeface="IBM Plex Sans"/>
              </a:rPr>
              <a:t>Below the 5-point target; step 1 is 23% slower and clients go back to the start far more often (19% vs 11%); the gain faded from May</a:t>
            </a:r>
            <a:endParaRPr b="0" i="0" sz="1400" u="none" cap="none" strike="noStrike">
              <a:solidFill>
                <a:schemeClr val="dk1"/>
              </a:solidFill>
              <a:latin typeface="IBM Plex Sans"/>
              <a:ea typeface="IBM Plex Sans"/>
              <a:cs typeface="IBM Plex Sans"/>
              <a:sym typeface="IBM Plex Sans"/>
            </a:endParaRPr>
          </a:p>
        </p:txBody>
      </p:sp>
      <p:sp>
        <p:nvSpPr>
          <p:cNvPr id="217" name="Google Shape;217;p11"/>
          <p:cNvSpPr/>
          <p:nvPr/>
        </p:nvSpPr>
        <p:spPr>
          <a:xfrm>
            <a:off x="821883" y="3641117"/>
            <a:ext cx="10883400" cy="3099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E6"/>
              </a:buClr>
              <a:buSzPts val="1600"/>
              <a:buFont typeface="IBM Plex Sans"/>
              <a:buNone/>
            </a:pPr>
            <a:r>
              <a:rPr b="0" i="0" lang="en-US" sz="1600" u="none" cap="none" strike="noStrike">
                <a:solidFill>
                  <a:srgbClr val="C9D3E6"/>
                </a:solidFill>
                <a:latin typeface="IBM Plex Sans"/>
                <a:ea typeface="IBM Plex Sans"/>
                <a:cs typeface="IBM Plex Sans"/>
                <a:sym typeface="IBM Plex Sans"/>
              </a:rPr>
              <a:t>Don’t roll out the current version yet: revise it, then test whether it clears the threshold.</a:t>
            </a:r>
            <a:endParaRPr b="0" i="0" sz="1600" u="none" cap="none" strike="noStrike">
              <a:solidFill>
                <a:schemeClr val="dk1"/>
              </a:solidFill>
              <a:latin typeface="IBM Plex Sans"/>
              <a:ea typeface="IBM Plex Sans"/>
              <a:cs typeface="IBM Plex Sans"/>
              <a:sym typeface="IBM Plex Sans"/>
            </a:endParaRPr>
          </a:p>
        </p:txBody>
      </p:sp>
      <p:sp>
        <p:nvSpPr>
          <p:cNvPr id="218" name="Google Shape;218;p11"/>
          <p:cNvSpPr/>
          <p:nvPr/>
        </p:nvSpPr>
        <p:spPr>
          <a:xfrm>
            <a:off x="10783888" y="6236990"/>
            <a:ext cx="595313" cy="238720"/>
          </a:xfrm>
          <a:prstGeom prst="rect">
            <a:avLst/>
          </a:prstGeom>
          <a:noFill/>
          <a:ln>
            <a:noFill/>
          </a:ln>
        </p:spPr>
        <p:txBody>
          <a:bodyPr anchorCtr="0" anchor="t" bIns="0" lIns="0" spcFirstLastPara="1" rIns="0" wrap="square" tIns="0">
            <a:normAutofit/>
          </a:bodyPr>
          <a:lstStyle/>
          <a:p>
            <a:pPr indent="0" lvl="0" marL="0" marR="0" rtl="0" algn="r">
              <a:lnSpc>
                <a:spcPct val="140000"/>
              </a:lnSpc>
              <a:spcBef>
                <a:spcPts val="0"/>
              </a:spcBef>
              <a:spcAft>
                <a:spcPts val="0"/>
              </a:spcAft>
              <a:buClr>
                <a:srgbClr val="C9D3E6"/>
              </a:buClr>
              <a:buSzPts val="1200"/>
              <a:buFont typeface="IBM Plex Sans"/>
              <a:buNone/>
            </a:pPr>
            <a:r>
              <a:rPr b="0" i="0" lang="en-US" sz="1200" u="none" cap="none" strike="noStrike">
                <a:solidFill>
                  <a:srgbClr val="C9D3E6"/>
                </a:solidFill>
                <a:latin typeface="IBM Plex Sans"/>
                <a:ea typeface="IBM Plex Sans"/>
                <a:cs typeface="IBM Plex Sans"/>
                <a:sym typeface="IBM Plex Sans"/>
              </a:rPr>
              <a:t>1</a:t>
            </a:r>
            <a:r>
              <a:rPr lang="en-US" sz="1200">
                <a:solidFill>
                  <a:srgbClr val="C9D3E6"/>
                </a:solidFill>
                <a:latin typeface="IBM Plex Sans"/>
                <a:ea typeface="IBM Plex Sans"/>
                <a:cs typeface="IBM Plex Sans"/>
                <a:sym typeface="IBM Plex Sans"/>
              </a:rPr>
              <a:t>0</a:t>
            </a:r>
            <a:r>
              <a:rPr b="0" i="0" lang="en-US" sz="1200" u="none" cap="none" strike="noStrike">
                <a:solidFill>
                  <a:srgbClr val="C9D3E6"/>
                </a:solidFill>
                <a:latin typeface="IBM Plex Sans"/>
                <a:ea typeface="IBM Plex Sans"/>
                <a:cs typeface="IBM Plex Sans"/>
                <a:sym typeface="IBM Plex Sans"/>
              </a:rPr>
              <a:t> / 12</a:t>
            </a:r>
            <a:endParaRPr b="0" i="0" sz="1200" u="none" cap="none" strike="noStrike">
              <a:solidFill>
                <a:schemeClr val="dk1"/>
              </a:solidFill>
              <a:latin typeface="IBM Plex Sans"/>
              <a:ea typeface="IBM Plex Sans"/>
              <a:cs typeface="IBM Plex Sans"/>
              <a:sym typeface="IBM Plex Sans"/>
            </a:endParaRPr>
          </a:p>
        </p:txBody>
      </p:sp>
      <p:sp>
        <p:nvSpPr>
          <p:cNvPr id="219" name="Google Shape;219;p11"/>
          <p:cNvSpPr/>
          <p:nvPr/>
        </p:nvSpPr>
        <p:spPr>
          <a:xfrm>
            <a:off x="2107575" y="4501125"/>
            <a:ext cx="7977000" cy="492600"/>
          </a:xfrm>
          <a:prstGeom prst="roundRect">
            <a:avLst>
              <a:gd fmla="val 4179" name="adj"/>
            </a:avLst>
          </a:prstGeom>
          <a:solidFill>
            <a:srgbClr val="1F2F52"/>
          </a:solidFill>
          <a:ln>
            <a:noFill/>
          </a:ln>
        </p:spPr>
        <p:txBody>
          <a:bodyPr anchorCtr="0" anchor="ctr" bIns="73175" lIns="73175" spcFirstLastPara="1" rIns="73175" wrap="square" tIns="73175">
            <a:noAutofit/>
          </a:bodyPr>
          <a:lstStyle/>
          <a:p>
            <a:pPr indent="0" lvl="0" marL="0" rtl="0" algn="l">
              <a:spcBef>
                <a:spcPts val="0"/>
              </a:spcBef>
              <a:spcAft>
                <a:spcPts val="0"/>
              </a:spcAft>
              <a:buNone/>
            </a:pPr>
            <a:r>
              <a:t/>
            </a:r>
            <a:endParaRPr/>
          </a:p>
        </p:txBody>
      </p:sp>
      <p:sp>
        <p:nvSpPr>
          <p:cNvPr id="220" name="Google Shape;220;p11"/>
          <p:cNvSpPr/>
          <p:nvPr/>
        </p:nvSpPr>
        <p:spPr>
          <a:xfrm>
            <a:off x="945513" y="4066397"/>
            <a:ext cx="2803800" cy="2544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8A56B"/>
              </a:buClr>
              <a:buSzPts val="1513"/>
              <a:buFont typeface="IBM Plex Sans"/>
              <a:buNone/>
            </a:pPr>
            <a:r>
              <a:rPr b="1" i="0" lang="en-US" sz="1513" u="none" cap="none" strike="noStrike">
                <a:solidFill>
                  <a:srgbClr val="E8A56B"/>
                </a:solidFill>
                <a:latin typeface="IBM Plex Sans"/>
                <a:ea typeface="IBM Plex Sans"/>
                <a:cs typeface="IBM Plex Sans"/>
                <a:sym typeface="IBM Plex Sans"/>
              </a:rPr>
              <a:t>Next steps:</a:t>
            </a:r>
            <a:endParaRPr b="0" i="0" sz="1513" u="none" cap="none" strike="noStrike">
              <a:solidFill>
                <a:schemeClr val="dk1"/>
              </a:solidFill>
              <a:latin typeface="IBM Plex Sans"/>
              <a:ea typeface="IBM Plex Sans"/>
              <a:cs typeface="IBM Plex Sans"/>
              <a:sym typeface="IBM Plex Sans"/>
            </a:endParaRPr>
          </a:p>
        </p:txBody>
      </p:sp>
      <p:sp>
        <p:nvSpPr>
          <p:cNvPr id="221" name="Google Shape;221;p11"/>
          <p:cNvSpPr/>
          <p:nvPr/>
        </p:nvSpPr>
        <p:spPr>
          <a:xfrm>
            <a:off x="2297325" y="4625522"/>
            <a:ext cx="6058200" cy="30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None/>
            </a:pPr>
            <a:r>
              <a:rPr lang="en-US" sz="1420">
                <a:solidFill>
                  <a:srgbClr val="DCE3EF"/>
                </a:solidFill>
                <a:latin typeface="IBM Plex Sans"/>
                <a:ea typeface="IBM Plex Sans"/>
                <a:cs typeface="IBM Plex Sans"/>
                <a:sym typeface="IBM Plex Sans"/>
              </a:rPr>
              <a:t>User Interaction &amp; Clickstream Logs - </a:t>
            </a:r>
            <a:r>
              <a:rPr lang="en-US" sz="1420">
                <a:solidFill>
                  <a:srgbClr val="DCE3EF"/>
                </a:solidFill>
                <a:latin typeface="IBM Plex Sans"/>
                <a:ea typeface="IBM Plex Sans"/>
                <a:cs typeface="IBM Plex Sans"/>
                <a:sym typeface="IBM Plex Sans"/>
              </a:rPr>
              <a:t>Tracking specific click locations</a:t>
            </a:r>
            <a:endParaRPr sz="1420">
              <a:solidFill>
                <a:srgbClr val="DCE3EF"/>
              </a:solidFill>
              <a:latin typeface="IBM Plex Sans"/>
              <a:ea typeface="IBM Plex Sans"/>
              <a:cs typeface="IBM Plex Sans"/>
              <a:sym typeface="IBM Plex Sans"/>
            </a:endParaRPr>
          </a:p>
        </p:txBody>
      </p:sp>
      <p:sp>
        <p:nvSpPr>
          <p:cNvPr id="222" name="Google Shape;222;p11"/>
          <p:cNvSpPr/>
          <p:nvPr/>
        </p:nvSpPr>
        <p:spPr>
          <a:xfrm>
            <a:off x="2107575" y="5090275"/>
            <a:ext cx="7977000" cy="492600"/>
          </a:xfrm>
          <a:prstGeom prst="roundRect">
            <a:avLst>
              <a:gd fmla="val 4179" name="adj"/>
            </a:avLst>
          </a:prstGeom>
          <a:solidFill>
            <a:srgbClr val="1F2F52"/>
          </a:solidFill>
          <a:ln>
            <a:noFill/>
          </a:ln>
        </p:spPr>
        <p:txBody>
          <a:bodyPr anchorCtr="0" anchor="ctr" bIns="73175" lIns="73175" spcFirstLastPara="1" rIns="73175" wrap="square" tIns="73175">
            <a:noAutofit/>
          </a:bodyPr>
          <a:lstStyle/>
          <a:p>
            <a:pPr indent="0" lvl="0" marL="0" rtl="0" algn="l">
              <a:spcBef>
                <a:spcPts val="0"/>
              </a:spcBef>
              <a:spcAft>
                <a:spcPts val="0"/>
              </a:spcAft>
              <a:buNone/>
            </a:pPr>
            <a:r>
              <a:t/>
            </a:r>
            <a:endParaRPr/>
          </a:p>
        </p:txBody>
      </p:sp>
      <p:sp>
        <p:nvSpPr>
          <p:cNvPr id="223" name="Google Shape;223;p11"/>
          <p:cNvSpPr/>
          <p:nvPr/>
        </p:nvSpPr>
        <p:spPr>
          <a:xfrm>
            <a:off x="2297325" y="5227050"/>
            <a:ext cx="6058200" cy="30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None/>
            </a:pPr>
            <a:r>
              <a:rPr lang="en-US">
                <a:solidFill>
                  <a:srgbClr val="DCE3EF"/>
                </a:solidFill>
                <a:latin typeface="IBM Plex Sans"/>
                <a:ea typeface="IBM Plex Sans"/>
                <a:cs typeface="IBM Plex Sans"/>
                <a:sym typeface="IBM Plex Sans"/>
              </a:rPr>
              <a:t>Device and Browser Breakdown : Different Browser or Resolution</a:t>
            </a:r>
            <a:endParaRPr>
              <a:solidFill>
                <a:srgbClr val="DCE3EF"/>
              </a:solidFill>
              <a:latin typeface="IBM Plex Sans"/>
              <a:ea typeface="IBM Plex Sans"/>
              <a:cs typeface="IBM Plex Sans"/>
              <a:sym typeface="IBM Plex Sans"/>
            </a:endParaRPr>
          </a:p>
        </p:txBody>
      </p:sp>
      <p:sp>
        <p:nvSpPr>
          <p:cNvPr id="224" name="Google Shape;224;p11"/>
          <p:cNvSpPr/>
          <p:nvPr/>
        </p:nvSpPr>
        <p:spPr>
          <a:xfrm>
            <a:off x="2107575" y="5679425"/>
            <a:ext cx="7977000" cy="492600"/>
          </a:xfrm>
          <a:prstGeom prst="roundRect">
            <a:avLst>
              <a:gd fmla="val 4179" name="adj"/>
            </a:avLst>
          </a:prstGeom>
          <a:solidFill>
            <a:srgbClr val="1F2F52"/>
          </a:solidFill>
          <a:ln>
            <a:noFill/>
          </a:ln>
        </p:spPr>
        <p:txBody>
          <a:bodyPr anchorCtr="0" anchor="ctr" bIns="73175" lIns="73175" spcFirstLastPara="1" rIns="73175" wrap="square" tIns="73175">
            <a:noAutofit/>
          </a:bodyPr>
          <a:lstStyle/>
          <a:p>
            <a:pPr indent="0" lvl="0" marL="0" rtl="0" algn="l">
              <a:spcBef>
                <a:spcPts val="0"/>
              </a:spcBef>
              <a:spcAft>
                <a:spcPts val="0"/>
              </a:spcAft>
              <a:buNone/>
            </a:pPr>
            <a:r>
              <a:t/>
            </a:r>
            <a:endParaRPr/>
          </a:p>
        </p:txBody>
      </p:sp>
      <p:sp>
        <p:nvSpPr>
          <p:cNvPr id="225" name="Google Shape;225;p11"/>
          <p:cNvSpPr/>
          <p:nvPr/>
        </p:nvSpPr>
        <p:spPr>
          <a:xfrm>
            <a:off x="2297325" y="5816200"/>
            <a:ext cx="7274100" cy="30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None/>
            </a:pPr>
            <a:r>
              <a:rPr lang="en-US" sz="1420">
                <a:solidFill>
                  <a:srgbClr val="DCE3EF"/>
                </a:solidFill>
                <a:latin typeface="IBM Plex Sans"/>
                <a:ea typeface="IBM Plex Sans"/>
                <a:cs typeface="IBM Plex Sans"/>
                <a:sym typeface="IBM Plex Sans"/>
              </a:rPr>
              <a:t>User Interaction &amp; Clickstream Logs (Heatmaps &amp; Error Flags)</a:t>
            </a:r>
            <a:endParaRPr sz="1420">
              <a:solidFill>
                <a:srgbClr val="DCE3EF"/>
              </a:solidFill>
              <a:latin typeface="IBM Plex Sans"/>
              <a:ea typeface="IBM Plex Sans"/>
              <a:cs typeface="IBM Plex Sans"/>
              <a:sym typeface="IBM Plex Sans"/>
            </a:endParaRPr>
          </a:p>
        </p:txBody>
      </p:sp>
      <p:sp>
        <p:nvSpPr>
          <p:cNvPr id="226" name="Google Shape;226;p11"/>
          <p:cNvSpPr/>
          <p:nvPr/>
        </p:nvSpPr>
        <p:spPr>
          <a:xfrm rot="5400000">
            <a:off x="1407050" y="4574425"/>
            <a:ext cx="454200" cy="360900"/>
          </a:xfrm>
          <a:prstGeom prst="triangle">
            <a:avLst>
              <a:gd fmla="val 50000"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Sans"/>
              <a:ea typeface="IBM Plex Sans"/>
              <a:cs typeface="IBM Plex Sans"/>
              <a:sym typeface="IBM Plex Sans"/>
            </a:endParaRPr>
          </a:p>
        </p:txBody>
      </p:sp>
      <p:sp>
        <p:nvSpPr>
          <p:cNvPr id="227" name="Google Shape;227;p11"/>
          <p:cNvSpPr/>
          <p:nvPr/>
        </p:nvSpPr>
        <p:spPr>
          <a:xfrm rot="5400000">
            <a:off x="1407050" y="5156125"/>
            <a:ext cx="454200" cy="360900"/>
          </a:xfrm>
          <a:prstGeom prst="triangle">
            <a:avLst>
              <a:gd fmla="val 50000"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Sans"/>
              <a:ea typeface="IBM Plex Sans"/>
              <a:cs typeface="IBM Plex Sans"/>
              <a:sym typeface="IBM Plex Sans"/>
            </a:endParaRPr>
          </a:p>
        </p:txBody>
      </p:sp>
      <p:sp>
        <p:nvSpPr>
          <p:cNvPr id="228" name="Google Shape;228;p11"/>
          <p:cNvSpPr/>
          <p:nvPr/>
        </p:nvSpPr>
        <p:spPr>
          <a:xfrm rot="5400000">
            <a:off x="1407050" y="5726075"/>
            <a:ext cx="454200" cy="360900"/>
          </a:xfrm>
          <a:prstGeom prst="triangle">
            <a:avLst>
              <a:gd fmla="val 50000" name="adj"/>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BM Plex Sans"/>
              <a:ea typeface="IBM Plex Sans"/>
              <a:cs typeface="IBM Plex Sans"/>
              <a:sym typeface="IBM Plex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233" name="Shape 233"/>
        <p:cNvGrpSpPr/>
        <p:nvPr/>
      </p:nvGrpSpPr>
      <p:grpSpPr>
        <a:xfrm>
          <a:off x="0" y="0"/>
          <a:ext cx="0" cy="0"/>
          <a:chOff x="0" y="0"/>
          <a:chExt cx="0" cy="0"/>
        </a:xfrm>
      </p:grpSpPr>
      <p:sp>
        <p:nvSpPr>
          <p:cNvPr id="234" name="Google Shape;234;p12"/>
          <p:cNvSpPr txBox="1"/>
          <p:nvPr>
            <p:ph type="title"/>
          </p:nvPr>
        </p:nvSpPr>
        <p:spPr>
          <a:xfrm>
            <a:off x="812800" y="2293640"/>
            <a:ext cx="10883392" cy="82550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7F5F0"/>
              </a:buClr>
              <a:buSzPts val="6000"/>
              <a:buFont typeface="Source Serif 4"/>
              <a:buNone/>
            </a:pPr>
            <a:r>
              <a:rPr b="1" i="0" lang="en-US" sz="6000">
                <a:solidFill>
                  <a:srgbClr val="F7F5F0"/>
                </a:solidFill>
                <a:latin typeface="Source Serif 4"/>
                <a:ea typeface="Source Serif 4"/>
                <a:cs typeface="Source Serif 4"/>
                <a:sym typeface="Source Serif 4"/>
              </a:rPr>
              <a:t>Thank you</a:t>
            </a:r>
            <a:endParaRPr sz="6000"/>
          </a:p>
        </p:txBody>
      </p:sp>
      <p:sp>
        <p:nvSpPr>
          <p:cNvPr id="235" name="Google Shape;235;p12"/>
          <p:cNvSpPr/>
          <p:nvPr/>
        </p:nvSpPr>
        <p:spPr>
          <a:xfrm>
            <a:off x="812800" y="3296940"/>
            <a:ext cx="10883392" cy="388541"/>
          </a:xfrm>
          <a:prstGeom prst="rect">
            <a:avLst/>
          </a:prstGeom>
          <a:noFill/>
          <a:ln>
            <a:noFill/>
          </a:ln>
        </p:spPr>
        <p:txBody>
          <a:bodyPr anchorCtr="0" anchor="t" bIns="0" lIns="0" spcFirstLastPara="1" rIns="0" wrap="square" tIns="0">
            <a:normAutofit/>
          </a:bodyPr>
          <a:lstStyle/>
          <a:p>
            <a:pPr indent="0" lvl="0" marL="0" marR="0" rtl="0" algn="l">
              <a:lnSpc>
                <a:spcPct val="130000"/>
              </a:lnSpc>
              <a:spcBef>
                <a:spcPts val="0"/>
              </a:spcBef>
              <a:spcAft>
                <a:spcPts val="0"/>
              </a:spcAft>
              <a:buClr>
                <a:srgbClr val="C9D3E6"/>
              </a:buClr>
              <a:buSzPts val="2200"/>
              <a:buFont typeface="IBM Plex Sans"/>
              <a:buNone/>
            </a:pPr>
            <a:r>
              <a:rPr b="0" i="0" lang="en-US" sz="2200" u="none" cap="none" strike="noStrike">
                <a:solidFill>
                  <a:srgbClr val="C9D3E6"/>
                </a:solidFill>
                <a:latin typeface="IBM Plex Sans"/>
                <a:ea typeface="IBM Plex Sans"/>
                <a:cs typeface="IBM Plex Sans"/>
                <a:sym typeface="IBM Plex Sans"/>
              </a:rPr>
              <a:t>Questions?</a:t>
            </a:r>
            <a:endParaRPr b="0" i="0" sz="2200" u="none" cap="none" strike="noStrike">
              <a:solidFill>
                <a:schemeClr val="dk1"/>
              </a:solidFill>
              <a:latin typeface="IBM Plex Sans"/>
              <a:ea typeface="IBM Plex Sans"/>
              <a:cs typeface="IBM Plex Sans"/>
              <a:sym typeface="IBM Plex Sans"/>
            </a:endParaRPr>
          </a:p>
        </p:txBody>
      </p:sp>
      <p:sp>
        <p:nvSpPr>
          <p:cNvPr id="236" name="Google Shape;236;p12"/>
          <p:cNvSpPr/>
          <p:nvPr/>
        </p:nvSpPr>
        <p:spPr>
          <a:xfrm>
            <a:off x="812800" y="3863280"/>
            <a:ext cx="10883392" cy="30986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E8A56B"/>
              </a:buClr>
              <a:buSzPts val="1600"/>
              <a:buFont typeface="IBM Plex Sans"/>
              <a:buNone/>
            </a:pPr>
            <a:r>
              <a:rPr b="1" i="0" lang="en-US" sz="1600" u="none" cap="none" strike="noStrike">
                <a:solidFill>
                  <a:srgbClr val="E8A56B"/>
                </a:solidFill>
                <a:latin typeface="IBM Plex Sans"/>
                <a:ea typeface="IBM Plex Sans"/>
                <a:cs typeface="IBM Plex Sans"/>
                <a:sym typeface="IBM Plex Sans"/>
              </a:rPr>
              <a:t>Team Hufflepuff</a:t>
            </a:r>
            <a:r>
              <a:rPr b="0" i="0" lang="en-US" sz="1600" u="none" cap="none" strike="noStrike">
                <a:solidFill>
                  <a:srgbClr val="E8A56B"/>
                </a:solidFill>
                <a:latin typeface="IBM Plex Sans"/>
                <a:ea typeface="IBM Plex Sans"/>
                <a:cs typeface="IBM Plex Sans"/>
                <a:sym typeface="IBM Plex Sans"/>
              </a:rPr>
              <a:t> · Pariya · Pietro · Yurii</a:t>
            </a:r>
            <a:endParaRPr b="0" i="0" sz="1600" u="none" cap="none" strike="noStrike">
              <a:solidFill>
                <a:schemeClr val="dk1"/>
              </a:solidFill>
              <a:latin typeface="IBM Plex Sans"/>
              <a:ea typeface="IBM Plex Sans"/>
              <a:cs typeface="IBM Plex Sans"/>
              <a:sym typeface="IBM Plex Sans"/>
            </a:endParaRPr>
          </a:p>
        </p:txBody>
      </p:sp>
      <p:sp>
        <p:nvSpPr>
          <p:cNvPr id="237" name="Google Shape;237;p12"/>
          <p:cNvSpPr/>
          <p:nvPr/>
        </p:nvSpPr>
        <p:spPr>
          <a:xfrm>
            <a:off x="812800" y="4350972"/>
            <a:ext cx="10883400" cy="8256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C9D3E6"/>
              </a:buClr>
              <a:buSzPts val="1200"/>
              <a:buFont typeface="IBM Plex Sans"/>
              <a:buNone/>
            </a:pPr>
            <a:r>
              <a:rPr b="0" i="0" lang="en-US" sz="1200" u="none" cap="none" strike="noStrike">
                <a:solidFill>
                  <a:srgbClr val="C9D3E6"/>
                </a:solidFill>
                <a:latin typeface="IBM Plex Sans"/>
                <a:ea typeface="IBM Plex Sans"/>
                <a:cs typeface="IBM Plex Sans"/>
                <a:sym typeface="IBM Plex Sans"/>
              </a:rPr>
              <a:t>Code and notebooks: </a:t>
            </a:r>
            <a:r>
              <a:rPr lang="en-US" sz="1200" u="sng">
                <a:solidFill>
                  <a:schemeClr val="hlink"/>
                </a:solidFill>
                <a:latin typeface="IBM Plex Sans"/>
                <a:ea typeface="IBM Plex Sans"/>
                <a:cs typeface="IBM Plex Sans"/>
                <a:sym typeface="IBM Plex Sans"/>
                <a:hlinkClick r:id="rId3"/>
              </a:rPr>
              <a:t>GitHub repository</a:t>
            </a:r>
            <a:endParaRPr b="0" i="0" sz="1200" u="none" cap="none" strike="noStrike">
              <a:solidFill>
                <a:srgbClr val="C9D3E6"/>
              </a:solidFill>
              <a:latin typeface="IBM Plex Sans"/>
              <a:ea typeface="IBM Plex Sans"/>
              <a:cs typeface="IBM Plex Sans"/>
              <a:sym typeface="IBM Plex Sans"/>
            </a:endParaRPr>
          </a:p>
          <a:p>
            <a:pPr indent="0" lvl="0" marL="0" marR="0" rtl="0" algn="l">
              <a:lnSpc>
                <a:spcPct val="140000"/>
              </a:lnSpc>
              <a:spcBef>
                <a:spcPts val="0"/>
              </a:spcBef>
              <a:spcAft>
                <a:spcPts val="0"/>
              </a:spcAft>
              <a:buClr>
                <a:srgbClr val="C9D3E6"/>
              </a:buClr>
              <a:buSzPts val="1200"/>
              <a:buFont typeface="IBM Plex Sans"/>
              <a:buNone/>
            </a:pPr>
            <a:r>
              <a:rPr lang="en-US" sz="1200">
                <a:solidFill>
                  <a:srgbClr val="C9D3E6"/>
                </a:solidFill>
                <a:latin typeface="IBM Plex Sans"/>
                <a:ea typeface="IBM Plex Sans"/>
                <a:cs typeface="IBM Plex Sans"/>
                <a:sym typeface="IBM Plex Sans"/>
              </a:rPr>
              <a:t>Tableau : </a:t>
            </a:r>
            <a:r>
              <a:rPr lang="en-US" sz="1200" u="sng">
                <a:solidFill>
                  <a:schemeClr val="hlink"/>
                </a:solidFill>
                <a:latin typeface="IBM Plex Sans"/>
                <a:ea typeface="IBM Plex Sans"/>
                <a:cs typeface="IBM Plex Sans"/>
                <a:sym typeface="IBM Plex Sans"/>
                <a:hlinkClick r:id="rId4"/>
              </a:rPr>
              <a:t>Tableau dashboard</a:t>
            </a:r>
            <a:endParaRPr sz="1200">
              <a:solidFill>
                <a:srgbClr val="C9D3E6"/>
              </a:solidFill>
              <a:latin typeface="IBM Plex Sans"/>
              <a:ea typeface="IBM Plex Sans"/>
              <a:cs typeface="IBM Plex Sans"/>
              <a:sym typeface="IBM Plex Sans"/>
            </a:endParaRPr>
          </a:p>
          <a:p>
            <a:pPr indent="0" lvl="0" marL="0" marR="0" rtl="0" algn="l">
              <a:lnSpc>
                <a:spcPct val="140000"/>
              </a:lnSpc>
              <a:spcBef>
                <a:spcPts val="0"/>
              </a:spcBef>
              <a:spcAft>
                <a:spcPts val="0"/>
              </a:spcAft>
              <a:buClr>
                <a:srgbClr val="C9D3E6"/>
              </a:buClr>
              <a:buSzPts val="1200"/>
              <a:buFont typeface="IBM Plex Sans"/>
              <a:buNone/>
            </a:pPr>
            <a:r>
              <a:rPr lang="en-US" sz="1200">
                <a:solidFill>
                  <a:srgbClr val="C9D3E6"/>
                </a:solidFill>
                <a:latin typeface="IBM Plex Sans"/>
                <a:ea typeface="IBM Plex Sans"/>
                <a:cs typeface="IBM Plex Sans"/>
                <a:sym typeface="IBM Plex Sans"/>
              </a:rPr>
              <a:t>streamlit : </a:t>
            </a:r>
            <a:r>
              <a:rPr lang="en-US" sz="1200" u="sng">
                <a:solidFill>
                  <a:schemeClr val="hlink"/>
                </a:solidFill>
                <a:latin typeface="IBM Plex Sans"/>
                <a:ea typeface="IBM Plex Sans"/>
                <a:cs typeface="IBM Plex Sans"/>
                <a:sym typeface="IBM Plex Sans"/>
                <a:hlinkClick r:id="rId5"/>
              </a:rPr>
              <a:t>Streamlit dashboard</a:t>
            </a:r>
            <a:endParaRPr sz="1200">
              <a:solidFill>
                <a:srgbClr val="C9D3E6"/>
              </a:solidFill>
              <a:latin typeface="IBM Plex Sans"/>
              <a:ea typeface="IBM Plex Sans"/>
              <a:cs typeface="IBM Plex Sans"/>
              <a:sym typeface="IBM Plex Sans"/>
            </a:endParaRPr>
          </a:p>
        </p:txBody>
      </p:sp>
    </p:spTree>
  </p:cSld>
  <p:clrMapOvr>
    <a:masterClrMapping/>
  </p:clrMapOvr>
</p:sld>
</file>

<file path=ppt/theme/theme1.xml><?xml version="1.0" encoding="utf-8"?>
<a:theme xmlns:a="http://schemas.openxmlformats.org/drawingml/2006/main" xmlns:r="http://schemas.openxmlformats.org/officeDocument/2006/relationships" name="Vanguard A/B Test">
  <a:themeElements>
    <a:clrScheme name="Vanguard A/B Test">
      <a:dk1>
        <a:srgbClr val="14213D"/>
      </a:dk1>
      <a:lt1>
        <a:srgbClr val="F7F5F0"/>
      </a:lt1>
      <a:dk2>
        <a:srgbClr val="4D566A"/>
      </a:dk2>
      <a:lt2>
        <a:srgbClr val="E0E0DE"/>
      </a:lt2>
      <a:accent1>
        <a:srgbClr val="B4561A"/>
      </a:accent1>
      <a:accent2>
        <a:srgbClr val="E8A56B"/>
      </a:accent2>
      <a:accent3>
        <a:srgbClr val="9FB4D6"/>
      </a:accent3>
      <a:accent4>
        <a:srgbClr val="2F5D9E"/>
      </a:accent4>
      <a:accent5>
        <a:srgbClr val="D9772B"/>
      </a:accent5>
      <a:accent6>
        <a:srgbClr val="4A556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anguard A/B Test">
  <a:themeElements>
    <a:clrScheme name="Vanguard A/B Test">
      <a:dk1>
        <a:srgbClr val="14213D"/>
      </a:dk1>
      <a:lt1>
        <a:srgbClr val="F7F5F0"/>
      </a:lt1>
      <a:dk2>
        <a:srgbClr val="4D566A"/>
      </a:dk2>
      <a:lt2>
        <a:srgbClr val="E0E0DE"/>
      </a:lt2>
      <a:accent1>
        <a:srgbClr val="B4561A"/>
      </a:accent1>
      <a:accent2>
        <a:srgbClr val="E8A56B"/>
      </a:accent2>
      <a:accent3>
        <a:srgbClr val="9FB4D6"/>
      </a:accent3>
      <a:accent4>
        <a:srgbClr val="2F5D9E"/>
      </a:accent4>
      <a:accent5>
        <a:srgbClr val="D9772B"/>
      </a:accent5>
      <a:accent6>
        <a:srgbClr val="4A5568"/>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2026-10-20T14:29:56Z</dcterms:created>
</cp:coreProperties>
</file>